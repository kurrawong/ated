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2ff7d81c204567" /><Relationship Type="http://schemas.openxmlformats.org/officeDocument/2006/relationships/extended-properties" Target="/docProps/app.xml" Id="R03df0781ee0a4fbd" /><Relationship Type="http://schemas.openxmlformats.org/officeDocument/2006/relationships/officeDocument" Target="/ppt/presentation.xml" Id="R861bf8a3a0b542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c79232d98743e9"/>
  </p:sldMasterIdLst>
  <p:notesMasterIdLst>
    <p:notesMasterId xmlns:r="http://schemas.openxmlformats.org/officeDocument/2006/relationships" r:id="Re872266097434da6"/>
  </p:notesMasterIdLst>
  <p:sldIdLst>
    <p:sldId xmlns:r="http://schemas.openxmlformats.org/officeDocument/2006/relationships" id="256" r:id="R64f1b75d864c49bd"/>
  </p:sldIdLst>
  <p:sldSz cx="30279975" cy="428053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b28a68794d4a94" /><Relationship Type="http://schemas.openxmlformats.org/officeDocument/2006/relationships/slideMaster" Target="/ppt/slideMasters/slideMaster1.xml" Id="R6ec79232d98743e9" /><Relationship Type="http://schemas.openxmlformats.org/officeDocument/2006/relationships/notesMaster" Target="/ppt/notesMasters/notesMaster1.xml" Id="Re872266097434da6" /><Relationship Type="http://schemas.openxmlformats.org/officeDocument/2006/relationships/presProps" Target="/ppt/presProps.xml" Id="R22dd4579b5af40e7" /><Relationship Type="http://schemas.openxmlformats.org/officeDocument/2006/relationships/tableStyles" Target="/ppt/tableStyles.xml" Id="R11c3e1e1d0974225" /><Relationship Type="http://schemas.openxmlformats.org/officeDocument/2006/relationships/slide" Target="/ppt/slides/slide1.xml" Id="R64f1b75d864c49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babba507fa4c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6a26e2fa1049ce" /><Relationship Type="http://schemas.openxmlformats.org/officeDocument/2006/relationships/notesMaster" Target="/ppt/notesMasters/notesMaster1.xml" Id="Rc028da177b5646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KurrawongAI A0 poster template and logo artwork: /Users/leskneebone/Projects/Kurrawong/docs-internal/poster-template/, accessed 12 October 2026.</a:t>
            </a:r>
          </a:p>
          <a:p xmlns:a="http://schemas.openxmlformats.org/drawingml/2006/main">
            <a:r>
              <a:t>- ATED legacy website screenshot: https://cunningham.acer.edu.au/multites2007/index.html, supplied by the author, 2026.</a:t>
            </a:r>
          </a:p>
          <a:p xmlns:a="http://schemas.openxmlformats.org/drawingml/2006/main">
            <a:r>
              <a:t>- K-Maker edit and site screenshots: https://kmaker.app/s/acer, supplied by the author, 2026.</a:t>
            </a:r>
          </a:p>
          <a:p xmlns:a="http://schemas.openxmlformats.org/drawingml/2006/main">
            <a:r>
              <a:t>- K-Maker product page and QR target: https://kurrawong.ai/products/k-maker, accessed 12 October 2026.</a:t>
            </a:r>
          </a:p>
          <a:p xmlns:a="http://schemas.openxmlformats.org/drawingml/2006/main">
            <a:r>
              <a:t>- ATED project repository: https://github.com/Kurrawong/ated, accessed 12 October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0c7ef80e944f7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89e52ff58644a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62ebe97759470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cf76625845416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48725714824d5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5122e8b9a94c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56D9DF6-E848-4854-9CC7-B0672B648D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27998" y="16170910"/>
            <a:ext cx="24223980" cy="6182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192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3C93AE7-7D25-4F67-89BF-D7460D4E2D2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541996" y="23542943"/>
            <a:ext cx="21195982" cy="475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DA43650-C134-41E6-AAF9-87B8090FAD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27998" y="17835562"/>
            <a:ext cx="24223980" cy="7134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043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0D10D80-17E3-405B-9C4B-1ED0C58462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03249" y="3329305"/>
            <a:ext cx="26873478" cy="5231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819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0ED6C19-6344-483C-9522-30F64B759F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703249" y="11890375"/>
            <a:ext cx="26873478" cy="2663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5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567750" indent="-567750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  <a:defRPr/>
            </a:lvl1pPr>
            <a:lvl2pPr marL="1324749" indent="-567750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  <a:defRPr/>
            </a:lvl2pPr>
            <a:lvl3pPr marL="2081748" indent="-567750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  <a:defRPr/>
            </a:lvl3pPr>
            <a:lvl4pPr marL="2838748" indent="-567750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  <a:defRPr/>
            </a:lvl4pPr>
            <a:lvl5pPr marL="3595747" indent="-567750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  <a:defRPr/>
            </a:lvl5pPr>
            <a:lvl6pPr marL="4352746" indent="-567750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  <a:defRPr/>
            </a:lvl6pPr>
            <a:lvl7pPr marL="5109746" indent="-567750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  <a:defRPr/>
            </a:lvl7pPr>
            <a:lvl8pPr marL="5866745" indent="-567750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  <a:defRPr/>
            </a:lvl8pPr>
            <a:lvl9pPr marL="6623745" indent="-567750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E192DD4-41D4-4D34-87CE-6D9237BE05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03249" y="3329305"/>
            <a:ext cx="26873478" cy="5231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819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E1883D1-DCB1-4BD4-A58E-C6654D65A1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703249" y="11890375"/>
            <a:ext cx="12490490" cy="2663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2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567750" indent="-567750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  <a:defRPr/>
            </a:lvl1pPr>
            <a:lvl2pPr marL="1324749" indent="-567750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  <a:defRPr/>
            </a:lvl2pPr>
            <a:lvl3pPr marL="2081748" indent="-567750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  <a:defRPr/>
            </a:lvl3pPr>
            <a:lvl4pPr marL="2838748" indent="-567750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  <a:defRPr/>
            </a:lvl4pPr>
            <a:lvl5pPr marL="3595747" indent="-567750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  <a:defRPr/>
            </a:lvl5pPr>
            <a:lvl6pPr marL="4352746" indent="-567750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  <a:defRPr/>
            </a:lvl6pPr>
            <a:lvl7pPr marL="5109746" indent="-567750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  <a:defRPr/>
            </a:lvl7pPr>
            <a:lvl8pPr marL="5866745" indent="-567750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  <a:defRPr/>
            </a:lvl8pPr>
            <a:lvl9pPr marL="6623745" indent="-567750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0AC931D-D6F7-457A-B52C-60729920212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6086237" y="11890375"/>
            <a:ext cx="12490490" cy="2663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2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567750" indent="-567750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  <a:defRPr/>
            </a:lvl1pPr>
            <a:lvl2pPr marL="1324749" indent="-567750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  <a:defRPr/>
            </a:lvl2pPr>
            <a:lvl3pPr marL="2081748" indent="-567750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  <a:defRPr/>
            </a:lvl3pPr>
            <a:lvl4pPr marL="2838748" indent="-567750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  <a:defRPr/>
            </a:lvl4pPr>
            <a:lvl5pPr marL="3595747" indent="-567750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  <a:defRPr/>
            </a:lvl5pPr>
            <a:lvl6pPr marL="4352746" indent="-567750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  <a:defRPr/>
            </a:lvl6pPr>
            <a:lvl7pPr marL="5109746" indent="-567750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  <a:defRPr/>
            </a:lvl7pPr>
            <a:lvl8pPr marL="5866745" indent="-567750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  <a:defRPr/>
            </a:lvl8pPr>
            <a:lvl9pPr marL="6623745" indent="-567750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F91415B-8928-4CF3-B25D-934F267061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03249" y="3329305"/>
            <a:ext cx="26873478" cy="5231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819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8301DC5-F295-4C84-83AB-8B94D85B8E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703249" y="11890375"/>
            <a:ext cx="12490490" cy="2663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5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567750" indent="-567750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  <a:defRPr/>
            </a:lvl1pPr>
            <a:lvl2pPr marL="1324749" indent="-567750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  <a:defRPr/>
            </a:lvl2pPr>
            <a:lvl3pPr marL="2081748" indent="-567750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  <a:defRPr/>
            </a:lvl3pPr>
            <a:lvl4pPr marL="2838748" indent="-567750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  <a:defRPr/>
            </a:lvl4pPr>
            <a:lvl5pPr marL="3595747" indent="-567750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  <a:defRPr/>
            </a:lvl5pPr>
            <a:lvl6pPr marL="4352746" indent="-567750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  <a:defRPr/>
            </a:lvl6pPr>
            <a:lvl7pPr marL="5109746" indent="-567750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  <a:defRPr/>
            </a:lvl7pPr>
            <a:lvl8pPr marL="5866745" indent="-567750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  <a:defRPr/>
            </a:lvl8pPr>
            <a:lvl9pPr marL="6623745" indent="-567750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ab5085603445c4" /><Relationship Type="http://schemas.openxmlformats.org/officeDocument/2006/relationships/slideLayout" Target="/ppt/slideLayouts/slideLayout1.xml" Id="R9e87b583aeeb421c" /><Relationship Type="http://schemas.openxmlformats.org/officeDocument/2006/relationships/slideLayout" Target="/ppt/slideLayouts/slideLayout2.xml" Id="R041a9eb4a87d4c4c" /><Relationship Type="http://schemas.openxmlformats.org/officeDocument/2006/relationships/slideLayout" Target="/ppt/slideLayouts/slideLayout3.xml" Id="Racef5efc6aab4a15" /><Relationship Type="http://schemas.openxmlformats.org/officeDocument/2006/relationships/slideLayout" Target="/ppt/slideLayouts/slideLayout4.xml" Id="Rd1823118e4994672" /><Relationship Type="http://schemas.openxmlformats.org/officeDocument/2006/relationships/slideLayout" Target="/ppt/slideLayouts/slideLayout5.xml" Id="R8850509ae40442c7" /><Relationship Type="http://schemas.openxmlformats.org/officeDocument/2006/relationships/slideLayout" Target="/ppt/slideLayouts/slideLayout6.xml" Id="R222673540bea4a8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87b583aeeb421c"/>
    <p:sldLayoutId xmlns:r="http://schemas.openxmlformats.org/officeDocument/2006/relationships" id="2147483650" r:id="R041a9eb4a87d4c4c"/>
    <p:sldLayoutId xmlns:r="http://schemas.openxmlformats.org/officeDocument/2006/relationships" id="2147483651" r:id="Racef5efc6aab4a15"/>
    <p:sldLayoutId xmlns:r="http://schemas.openxmlformats.org/officeDocument/2006/relationships" id="2147483652" r:id="Rd1823118e4994672"/>
    <p:sldLayoutId xmlns:r="http://schemas.openxmlformats.org/officeDocument/2006/relationships" id="2147483653" r:id="R8850509ae40442c7"/>
    <p:sldLayoutId xmlns:r="http://schemas.openxmlformats.org/officeDocument/2006/relationships" id="2147483654" r:id="R222673540bea4a8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1bc3d02c7542a2" /><Relationship Type="http://schemas.openxmlformats.org/officeDocument/2006/relationships/image" Target="/ppt/media/image.png" Id="Rdba444912c33450d" /><Relationship Type="http://schemas.openxmlformats.org/officeDocument/2006/relationships/image" Target="/ppt/media/image.svg" Id="Rd75ed698c3984f01" /><Relationship Type="http://schemas.openxmlformats.org/officeDocument/2006/relationships/image" Target="/ppt/media/image2.png" Id="R87c0a14c5e764426" /><Relationship Type="http://schemas.openxmlformats.org/officeDocument/2006/relationships/image" Target="/ppt/media/image3.png" Id="R0f07fde9f2014d45" /><Relationship Type="http://schemas.openxmlformats.org/officeDocument/2006/relationships/image" Target="/ppt/media/image4.png" Id="R02e1959d079d43c4" /><Relationship Type="http://schemas.openxmlformats.org/officeDocument/2006/relationships/image" Target="/ppt/media/image5.png" Id="R8757fd43d0c04f12" /><Relationship Type="http://schemas.openxmlformats.org/officeDocument/2006/relationships/notesSlide" Target="/ppt/notesSlides/notesSlide1.xml" Id="R1714031462284ce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top-band">
            <a:extLst xmlns:a="http://schemas.openxmlformats.org/drawingml/2006/main">
              <a:ext uri="{FF2B5EF4-FFF2-40B4-BE49-F238E27FC236}">
                <a16:creationId xmlns:a16="http://schemas.microsoft.com/office/drawing/2014/main" id="{A0427FB3-B2CB-48CF-B81D-F48D0DFB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2799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6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126144-11BF-4A44-9E2B-137FCC1FBD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a444912c33450d">
            <a:extLst>
              <a:ext uri="{96DAC541-7B7A-43D3-8B79-37D633B846F1}">
                <asvg:svgBlip xmlns:asvg="http://schemas.microsoft.com/office/drawing/2016/SVG/main" r:embed="Rd75ed698c3984f0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714500" y="1095375"/>
            <a:ext cx="6858000" cy="2333625"/>
          </a:xfrm>
          <a:prstGeom xmlns:a="http://schemas.openxmlformats.org/drawingml/2006/main" prst="rect">
            <a:avLst/>
          </a:prstGeom>
        </p:spPr>
      </p:pic>
      <p:sp>
        <p:nvSpPr>
          <p:cNvPr id="3" name="event-context">
            <a:extLst xmlns:a="http://schemas.openxmlformats.org/drawingml/2006/main">
              <a:ext uri="{FF2B5EF4-FFF2-40B4-BE49-F238E27FC236}">
                <a16:creationId xmlns:a16="http://schemas.microsoft.com/office/drawing/2014/main" id="{D1A20D98-2574-4BDB-9D35-5062B318E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0" y="1571625"/>
            <a:ext cx="914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2550" b="1">
                <a:solidFill>
                  <a:srgbClr val="666666"/>
                </a:solidFill>
              </a:defRPr>
            </a:defPPr>
          </a:lstStyle>
          <a:p xmlns:a="http://schemas.openxmlformats.org/drawingml/2006/main">
            <a:pPr algn="r">
              <a:buNone/>
              <a:defRPr sz="2550" b="1">
                <a:solidFill>
                  <a:srgbClr val="666666"/>
                </a:solidFill>
              </a:defRPr>
            </a:pPr>
            <a:r>
              <a:rPr sz="2550" b="1">
                <a:solidFill>
                  <a:srgbClr val="666666"/>
                </a:solidFill>
              </a:rPr>
              <a:t>eRESEARCH AUSTRALASIA · 2026</a:t>
            </a:r>
          </a:p>
        </p:txBody>
      </p:sp>
      <p:sp>
        <p:nvSpPr>
          <p:cNvPr id="4" name="poster-context">
            <a:extLst xmlns:a="http://schemas.openxmlformats.org/drawingml/2006/main">
              <a:ext uri="{FF2B5EF4-FFF2-40B4-BE49-F238E27FC236}">
                <a16:creationId xmlns:a16="http://schemas.microsoft.com/office/drawing/2014/main" id="{864CEA7A-BD66-4FA5-924C-80A050C6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0" y="2400300"/>
            <a:ext cx="704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2325" b="1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r">
              <a:buNone/>
              <a:defRPr sz="2325" b="1">
                <a:solidFill>
                  <a:srgbClr val="171717"/>
                </a:solidFill>
              </a:defRPr>
            </a:pPr>
            <a:r>
              <a:rPr sz="2325" b="1">
                <a:solidFill>
                  <a:srgbClr val="171717"/>
                </a:solidFill>
              </a:rPr>
              <a:t>POSTER PRESENTATION</a:t>
            </a:r>
          </a:p>
        </p:txBody>
      </p:sp>
      <p:sp>
        <p:nvSpPr>
          <p:cNvPr id="5" name="poster-title">
            <a:extLst xmlns:a="http://schemas.openxmlformats.org/drawingml/2006/main">
              <a:ext uri="{FF2B5EF4-FFF2-40B4-BE49-F238E27FC236}">
                <a16:creationId xmlns:a16="http://schemas.microsoft.com/office/drawing/2014/main" id="{A3C92E84-DD88-41D9-83AF-FD2C800D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19625"/>
            <a:ext cx="26850975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400" b="1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>
              <a:buNone/>
              <a:defRPr sz="8400" b="1">
                <a:solidFill>
                  <a:srgbClr val="171717"/>
                </a:solidFill>
              </a:defRPr>
            </a:pPr>
            <a:r>
              <a:rPr sz="8400" b="1">
                <a:solidFill>
                  <a:srgbClr val="171717"/>
                </a:solidFill>
              </a:rPr>
              <a:t>Governed vocabulary publishing with K‑Maker</a:t>
            </a:r>
          </a:p>
        </p:txBody>
      </p:sp>
      <p:sp>
        <p:nvSpPr>
          <p:cNvPr id="6" name="poster-subtitle">
            <a:extLst xmlns:a="http://schemas.openxmlformats.org/drawingml/2006/main">
              <a:ext uri="{FF2B5EF4-FFF2-40B4-BE49-F238E27FC236}">
                <a16:creationId xmlns:a16="http://schemas.microsoft.com/office/drawing/2014/main" id="{886B0277-0D9F-4235-8B3A-A01CE06C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572250"/>
            <a:ext cx="2628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900" b="1">
                <a:solidFill>
                  <a:srgbClr val="A647A8"/>
                </a:solidFill>
              </a:defRPr>
            </a:defPPr>
          </a:lstStyle>
          <a:p xmlns:a="http://schemas.openxmlformats.org/drawingml/2006/main">
            <a:pPr>
              <a:buNone/>
              <a:defRPr sz="3900" b="1">
                <a:solidFill>
                  <a:srgbClr val="A647A8"/>
                </a:solidFill>
              </a:defRPr>
            </a:pPr>
            <a:r>
              <a:rPr sz="3900" b="1">
                <a:solidFill>
                  <a:srgbClr val="A647A8"/>
                </a:solidFill>
              </a:rPr>
              <a:t>The Australian Thesaurus of Education Descriptors as a practical case study</a:t>
            </a:r>
          </a:p>
        </p:txBody>
      </p:sp>
      <p:sp>
        <p:nvSpPr>
          <p:cNvPr id="7" name="authors">
            <a:extLst xmlns:a="http://schemas.openxmlformats.org/drawingml/2006/main">
              <a:ext uri="{FF2B5EF4-FFF2-40B4-BE49-F238E27FC236}">
                <a16:creationId xmlns:a16="http://schemas.microsoft.com/office/drawing/2014/main" id="{01D7377E-0CDD-4196-9ADD-421B968F9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8001000"/>
            <a:ext cx="1714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000" b="1">
                <a:solidFill>
                  <a:srgbClr val="303030"/>
                </a:solidFill>
              </a:defRPr>
            </a:defPPr>
          </a:lstStyle>
          <a:p xmlns:a="http://schemas.openxmlformats.org/drawingml/2006/main">
            <a:pPr>
              <a:buNone/>
              <a:defRPr sz="3000" b="1">
                <a:solidFill>
                  <a:srgbClr val="303030"/>
                </a:solidFill>
              </a:defRPr>
            </a:pPr>
            <a:r>
              <a:rPr sz="3000" b="1">
                <a:solidFill>
                  <a:srgbClr val="303030"/>
                </a:solidFill>
              </a:rPr>
              <a:t>Les Kneebone · KurrawongAI</a:t>
            </a:r>
          </a:p>
        </p:txBody>
      </p:sp>
      <p:sp>
        <p:nvSpPr>
          <p:cNvPr id="8" name="header-rule">
            <a:extLst xmlns:a="http://schemas.openxmlformats.org/drawingml/2006/main">
              <a:ext uri="{FF2B5EF4-FFF2-40B4-BE49-F238E27FC236}">
                <a16:creationId xmlns:a16="http://schemas.microsoft.com/office/drawing/2014/main" id="{BD37F1D0-7C31-4EF9-B8A8-A6C396997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9191625"/>
            <a:ext cx="268509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akeaway-panel">
            <a:extLst xmlns:a="http://schemas.openxmlformats.org/drawingml/2006/main">
              <a:ext uri="{FF2B5EF4-FFF2-40B4-BE49-F238E27FC236}">
                <a16:creationId xmlns:a16="http://schemas.microsoft.com/office/drawing/2014/main" id="{AB3152B4-BF2F-4664-BB3F-6AB1E96F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9858375"/>
            <a:ext cx="268509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3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keaway-accent">
            <a:extLst xmlns:a="http://schemas.openxmlformats.org/drawingml/2006/main">
              <a:ext uri="{FF2B5EF4-FFF2-40B4-BE49-F238E27FC236}">
                <a16:creationId xmlns:a16="http://schemas.microsoft.com/office/drawing/2014/main" id="{82E185F5-EFA5-47D8-B6A3-7C2D9E84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9858375"/>
            <a:ext cx="2667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keaway-kicker">
            <a:extLst xmlns:a="http://schemas.openxmlformats.org/drawingml/2006/main">
              <a:ext uri="{FF2B5EF4-FFF2-40B4-BE49-F238E27FC236}">
                <a16:creationId xmlns:a16="http://schemas.microsoft.com/office/drawing/2014/main" id="{012962E6-9997-4698-BC3A-40CBF74A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01155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1">
                <a:solidFill>
                  <a:srgbClr val="666666"/>
                </a:solidFill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666666"/>
                </a:solidFill>
              </a:defRPr>
            </a:pPr>
            <a:r>
              <a:rPr sz="2025" b="1">
                <a:solidFill>
                  <a:srgbClr val="666666"/>
                </a:solidFill>
              </a:rPr>
              <a:t>THE PLATFORM STORY</a:t>
            </a:r>
          </a:p>
        </p:txBody>
      </p:sp>
      <p:sp>
        <p:nvSpPr>
          <p:cNvPr id="12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BE06B776-FA86-46EF-B947-856727B3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0591800"/>
            <a:ext cx="2466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675" b="1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>
              <a:buNone/>
              <a:defRPr sz="3675" b="1">
                <a:solidFill>
                  <a:srgbClr val="171717"/>
                </a:solidFill>
              </a:defRPr>
            </a:pPr>
            <a:r>
              <a:rPr sz="3675" b="1">
                <a:solidFill>
                  <a:srgbClr val="171717"/>
                </a:solidFill>
              </a:rPr>
              <a:t>K‑Maker turns legacy thesaurus data into a vocabulary that remains portable across hosting options.</a:t>
            </a:r>
          </a:p>
        </p:txBody>
      </p:sp>
      <p:sp>
        <p:nvSpPr>
          <p:cNvPr id="13" name="01-accent">
            <a:extLst xmlns:a="http://schemas.openxmlformats.org/drawingml/2006/main">
              <a:ext uri="{FF2B5EF4-FFF2-40B4-BE49-F238E27FC236}">
                <a16:creationId xmlns:a16="http://schemas.microsoft.com/office/drawing/2014/main" id="{1BD6F4FA-42C2-4662-9460-7CE3F3F60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2525375"/>
            <a:ext cx="1714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01-number">
            <a:extLst xmlns:a="http://schemas.openxmlformats.org/drawingml/2006/main">
              <a:ext uri="{FF2B5EF4-FFF2-40B4-BE49-F238E27FC236}">
                <a16:creationId xmlns:a16="http://schemas.microsoft.com/office/drawing/2014/main" id="{5CF5960F-E732-4115-B5A3-703BA118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2525375"/>
            <a:ext cx="61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1">
                <a:solidFill>
                  <a:srgbClr val="666666"/>
                </a:solidFill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666666"/>
                </a:solidFill>
              </a:defRPr>
            </a:pPr>
            <a:r>
              <a:rPr sz="2175" b="1">
                <a:solidFill>
                  <a:srgbClr val="666666"/>
                </a:solidFill>
              </a:rPr>
              <a:t>01</a:t>
            </a:r>
          </a:p>
        </p:txBody>
      </p:sp>
      <p:sp>
        <p:nvSpPr>
          <p:cNvPr id="15" name="01-title">
            <a:extLst xmlns:a="http://schemas.openxmlformats.org/drawingml/2006/main">
              <a:ext uri="{FF2B5EF4-FFF2-40B4-BE49-F238E27FC236}">
                <a16:creationId xmlns:a16="http://schemas.microsoft.com/office/drawing/2014/main" id="{B9E839DF-CF21-4A93-B1CA-D9C063EBB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2496800"/>
            <a:ext cx="749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375" b="1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>
              <a:buNone/>
              <a:defRPr sz="3375" b="1">
                <a:solidFill>
                  <a:srgbClr val="171717"/>
                </a:solidFill>
              </a:defRPr>
            </a:pPr>
            <a:r>
              <a:rPr sz="3375" b="1">
                <a:solidFill>
                  <a:srgbClr val="171717"/>
                </a:solidFill>
              </a:rPr>
              <a:t>Legacy expression</a:t>
            </a:r>
          </a:p>
        </p:txBody>
      </p:sp>
      <p:sp>
        <p:nvSpPr>
          <p:cNvPr id="16" name="01-subtitle">
            <a:extLst xmlns:a="http://schemas.openxmlformats.org/drawingml/2006/main">
              <a:ext uri="{FF2B5EF4-FFF2-40B4-BE49-F238E27FC236}">
                <a16:creationId xmlns:a16="http://schemas.microsoft.com/office/drawing/2014/main" id="{837567EF-B905-4578-8D99-39D44152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3249275"/>
            <a:ext cx="8493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>
                <a:solidFill>
                  <a:srgbClr val="666666"/>
                </a:solidFill>
              </a:defRPr>
            </a:defPPr>
          </a:lstStyle>
          <a:p xmlns:a="http://schemas.openxmlformats.org/drawingml/2006/main">
            <a:pPr>
              <a:buNone/>
              <a:defRPr sz="2175">
                <a:solidFill>
                  <a:srgbClr val="666666"/>
                </a:solidFill>
              </a:defRPr>
            </a:pPr>
            <a:r>
              <a:rPr sz="2175">
                <a:solidFill>
                  <a:srgbClr val="666666"/>
                </a:solidFill>
              </a:rPr>
              <a:t>MultiTes HTML: meaning visible to people, but implicit to machines</a:t>
            </a:r>
          </a:p>
        </p:txBody>
      </p:sp>
      <p:sp>
        <p:nvSpPr>
          <p:cNvPr id="17" name="02-accent">
            <a:extLst xmlns:a="http://schemas.openxmlformats.org/drawingml/2006/main">
              <a:ext uri="{FF2B5EF4-FFF2-40B4-BE49-F238E27FC236}">
                <a16:creationId xmlns:a16="http://schemas.microsoft.com/office/drawing/2014/main" id="{B27F1952-6376-4E7B-9E4E-4FB86EC0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3425" y="12525375"/>
            <a:ext cx="1714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02-number">
            <a:extLst xmlns:a="http://schemas.openxmlformats.org/drawingml/2006/main">
              <a:ext uri="{FF2B5EF4-FFF2-40B4-BE49-F238E27FC236}">
                <a16:creationId xmlns:a16="http://schemas.microsoft.com/office/drawing/2014/main" id="{276916FC-E514-40F8-9882-D4930122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5375" y="12525375"/>
            <a:ext cx="61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1">
                <a:solidFill>
                  <a:srgbClr val="666666"/>
                </a:solidFill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666666"/>
                </a:solidFill>
              </a:defRPr>
            </a:pPr>
            <a:r>
              <a:rPr sz="2175" b="1">
                <a:solidFill>
                  <a:srgbClr val="666666"/>
                </a:solidFill>
              </a:rPr>
              <a:t>02</a:t>
            </a:r>
          </a:p>
        </p:txBody>
      </p:sp>
      <p:sp>
        <p:nvSpPr>
          <p:cNvPr id="19" name="02-title">
            <a:extLst xmlns:a="http://schemas.openxmlformats.org/drawingml/2006/main">
              <a:ext uri="{FF2B5EF4-FFF2-40B4-BE49-F238E27FC236}">
                <a16:creationId xmlns:a16="http://schemas.microsoft.com/office/drawing/2014/main" id="{DD091FDE-0684-40B1-8304-A7BE0D95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3550" y="12496800"/>
            <a:ext cx="749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375" b="1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>
              <a:buNone/>
              <a:defRPr sz="3375" b="1">
                <a:solidFill>
                  <a:srgbClr val="171717"/>
                </a:solidFill>
              </a:defRPr>
            </a:pPr>
            <a:r>
              <a:rPr sz="3375" b="1">
                <a:solidFill>
                  <a:srgbClr val="171717"/>
                </a:solidFill>
              </a:rPr>
              <a:t>Governed editing</a:t>
            </a:r>
          </a:p>
        </p:txBody>
      </p:sp>
      <p:sp>
        <p:nvSpPr>
          <p:cNvPr id="20" name="02-subtitle">
            <a:extLst xmlns:a="http://schemas.openxmlformats.org/drawingml/2006/main">
              <a:ext uri="{FF2B5EF4-FFF2-40B4-BE49-F238E27FC236}">
                <a16:creationId xmlns:a16="http://schemas.microsoft.com/office/drawing/2014/main" id="{2A4A03D1-0059-4053-BB30-9A590B8B6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3425" y="13249275"/>
            <a:ext cx="8493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>
                <a:solidFill>
                  <a:srgbClr val="666666"/>
                </a:solidFill>
              </a:defRPr>
            </a:defPPr>
          </a:lstStyle>
          <a:p xmlns:a="http://schemas.openxmlformats.org/drawingml/2006/main">
            <a:pPr>
              <a:buNone/>
              <a:defRPr sz="2175">
                <a:solidFill>
                  <a:srgbClr val="666666"/>
                </a:solidFill>
              </a:defRPr>
            </a:pPr>
            <a:r>
              <a:rPr sz="2175">
                <a:solidFill>
                  <a:srgbClr val="666666"/>
                </a:solidFill>
              </a:rPr>
              <a:t>K‑Maker: identifiers, labels, notes and relationships maintained together</a:t>
            </a:r>
          </a:p>
        </p:txBody>
      </p:sp>
      <p:sp>
        <p:nvSpPr>
          <p:cNvPr id="21" name="03-accent">
            <a:extLst xmlns:a="http://schemas.openxmlformats.org/drawingml/2006/main">
              <a:ext uri="{FF2B5EF4-FFF2-40B4-BE49-F238E27FC236}">
                <a16:creationId xmlns:a16="http://schemas.microsoft.com/office/drawing/2014/main" id="{59384F61-085B-4396-AE22-3FA5EB2B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72350" y="12525375"/>
            <a:ext cx="1714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03-number">
            <a:extLst xmlns:a="http://schemas.openxmlformats.org/drawingml/2006/main">
              <a:ext uri="{FF2B5EF4-FFF2-40B4-BE49-F238E27FC236}">
                <a16:creationId xmlns:a16="http://schemas.microsoft.com/office/drawing/2014/main" id="{13E7A60C-1BC5-407C-BB17-320344A0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34300" y="12525375"/>
            <a:ext cx="61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1">
                <a:solidFill>
                  <a:srgbClr val="666666"/>
                </a:solidFill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666666"/>
                </a:solidFill>
              </a:defRPr>
            </a:pPr>
            <a:r>
              <a:rPr sz="2175" b="1">
                <a:solidFill>
                  <a:srgbClr val="666666"/>
                </a:solidFill>
              </a:rPr>
              <a:t>03</a:t>
            </a:r>
          </a:p>
        </p:txBody>
      </p:sp>
      <p:sp>
        <p:nvSpPr>
          <p:cNvPr id="23" name="03-title">
            <a:extLst xmlns:a="http://schemas.openxmlformats.org/drawingml/2006/main">
              <a:ext uri="{FF2B5EF4-FFF2-40B4-BE49-F238E27FC236}">
                <a16:creationId xmlns:a16="http://schemas.microsoft.com/office/drawing/2014/main" id="{2F3E2B35-3E2A-4771-B578-0DC5AFE36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72475" y="12496800"/>
            <a:ext cx="749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375" b="1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>
              <a:buNone/>
              <a:defRPr sz="3375" b="1">
                <a:solidFill>
                  <a:srgbClr val="171717"/>
                </a:solidFill>
              </a:defRPr>
            </a:pPr>
            <a:r>
              <a:rPr sz="3375" b="1">
                <a:solidFill>
                  <a:srgbClr val="171717"/>
                </a:solidFill>
              </a:rPr>
              <a:t>Published vocabulary</a:t>
            </a:r>
          </a:p>
        </p:txBody>
      </p:sp>
      <p:sp>
        <p:nvSpPr>
          <p:cNvPr id="24" name="03-subtitle">
            <a:extLst xmlns:a="http://schemas.openxmlformats.org/drawingml/2006/main">
              <a:ext uri="{FF2B5EF4-FFF2-40B4-BE49-F238E27FC236}">
                <a16:creationId xmlns:a16="http://schemas.microsoft.com/office/drawing/2014/main" id="{DDC8FB89-05E1-451A-85AE-5AEED48B7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72350" y="13249275"/>
            <a:ext cx="8493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>
                <a:solidFill>
                  <a:srgbClr val="666666"/>
                </a:solidFill>
              </a:defRPr>
            </a:defPPr>
          </a:lstStyle>
          <a:p xmlns:a="http://schemas.openxmlformats.org/drawingml/2006/main">
            <a:pPr>
              <a:buNone/>
              <a:defRPr sz="2175">
                <a:solidFill>
                  <a:srgbClr val="666666"/>
                </a:solidFill>
              </a:defRPr>
            </a:pPr>
            <a:r>
              <a:rPr sz="2175">
                <a:solidFill>
                  <a:srgbClr val="666666"/>
                </a:solidFill>
              </a:rPr>
              <a:t>A branded site for discovery, with the same RDF available to systems</a:t>
            </a:r>
          </a:p>
        </p:txBody>
      </p:sp>
      <p:sp>
        <p:nvSpPr>
          <p:cNvPr id="25" name="legacy-screenshot-shadow">
            <a:extLst xmlns:a="http://schemas.openxmlformats.org/drawingml/2006/main">
              <a:ext uri="{FF2B5EF4-FFF2-40B4-BE49-F238E27FC236}">
                <a16:creationId xmlns:a16="http://schemas.microsoft.com/office/drawing/2014/main" id="{E5F6C468-BC0E-4B73-96D4-5BB00EFE4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4306550"/>
            <a:ext cx="8493125" cy="8096250"/>
          </a:xfrm>
          <a:prstGeom xmlns:a="http://schemas.openxmlformats.org/drawingml/2006/main" prst="roundRect">
            <a:avLst>
              <a:gd name="adj" fmla="val 941"/>
            </a:avLst>
          </a:prstGeom>
          <a:solidFill xmlns:a="http://schemas.openxmlformats.org/drawingml/2006/main">
            <a:srgbClr val="E9E9E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835B44-A72C-44BF-BFAB-2959D96A6C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c0a14c5e764426"/>
          <a:srcRect xmlns:a="http://schemas.openxmlformats.org/drawingml/2006/main" l="19500" t="0" r="3500" b="23500"/>
          <a:stretch xmlns:a="http://schemas.openxmlformats.org/drawingml/2006/main"/>
        </p:blipFill>
        <p:spPr>
          <a:xfrm xmlns:a="http://schemas.openxmlformats.org/drawingml/2006/main">
            <a:off x="1714500" y="14192250"/>
            <a:ext cx="8493125" cy="8096250"/>
          </a:xfrm>
          <a:prstGeom xmlns:a="http://schemas.openxmlformats.org/drawingml/2006/main" prst="roundRect">
            <a:avLst>
              <a:gd name="adj" fmla="val 2118"/>
            </a:avLst>
          </a:prstGeom>
        </p:spPr>
      </p:pic>
      <p:sp>
        <p:nvSpPr>
          <p:cNvPr id="27" name="legacy-screenshot-border">
            <a:extLst xmlns:a="http://schemas.openxmlformats.org/drawingml/2006/main">
              <a:ext uri="{FF2B5EF4-FFF2-40B4-BE49-F238E27FC236}">
                <a16:creationId xmlns:a16="http://schemas.microsoft.com/office/drawing/2014/main" id="{500871CB-FF23-4FAC-B3CB-982FDE08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4192250"/>
            <a:ext cx="8493125" cy="8096250"/>
          </a:xfrm>
          <a:prstGeom xmlns:a="http://schemas.openxmlformats.org/drawingml/2006/main" prst="roundRect">
            <a:avLst>
              <a:gd name="adj" fmla="val 941"/>
            </a:avLst>
          </a:prstGeom>
          <a:noFill xmlns:a="http://schemas.openxmlformats.org/drawingml/2006/main"/>
          <a:ln xmlns:a="http://schemas.openxmlformats.org/drawingml/2006/main" w="28575">
            <a:solidFill>
              <a:srgbClr val="D8D8D3"/>
            </a:solidFill>
            <a:prstDash val="solid"/>
          </a:ln>
        </p:spPr>
      </p:sp>
      <p:sp>
        <p:nvSpPr>
          <p:cNvPr id="28" name="edit-screenshot-shadow">
            <a:extLst xmlns:a="http://schemas.openxmlformats.org/drawingml/2006/main">
              <a:ext uri="{FF2B5EF4-FFF2-40B4-BE49-F238E27FC236}">
                <a16:creationId xmlns:a16="http://schemas.microsoft.com/office/drawing/2014/main" id="{C7F3AB6D-7465-400E-9197-0FCEB6F33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8675" y="14306550"/>
            <a:ext cx="8493125" cy="8096250"/>
          </a:xfrm>
          <a:prstGeom xmlns:a="http://schemas.openxmlformats.org/drawingml/2006/main" prst="roundRect">
            <a:avLst>
              <a:gd name="adj" fmla="val 941"/>
            </a:avLst>
          </a:prstGeom>
          <a:solidFill xmlns:a="http://schemas.openxmlformats.org/drawingml/2006/main">
            <a:srgbClr val="E9E9E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BDB7B4-E162-4D3A-95BF-D85736E987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07fde9f2014d45"/>
          <a:srcRect xmlns:a="http://schemas.openxmlformats.org/drawingml/2006/main" l="2500" t="1500" r="2500" b="9000"/>
          <a:stretch xmlns:a="http://schemas.openxmlformats.org/drawingml/2006/main"/>
        </p:blipFill>
        <p:spPr>
          <a:xfrm xmlns:a="http://schemas.openxmlformats.org/drawingml/2006/main">
            <a:off x="10893425" y="14192250"/>
            <a:ext cx="8493125" cy="8096250"/>
          </a:xfrm>
          <a:prstGeom xmlns:a="http://schemas.openxmlformats.org/drawingml/2006/main" prst="roundRect">
            <a:avLst>
              <a:gd name="adj" fmla="val 2118"/>
            </a:avLst>
          </a:prstGeom>
        </p:spPr>
      </p:pic>
      <p:sp>
        <p:nvSpPr>
          <p:cNvPr id="30" name="edit-screenshot-border">
            <a:extLst xmlns:a="http://schemas.openxmlformats.org/drawingml/2006/main">
              <a:ext uri="{FF2B5EF4-FFF2-40B4-BE49-F238E27FC236}">
                <a16:creationId xmlns:a16="http://schemas.microsoft.com/office/drawing/2014/main" id="{49DD6C8B-A4D5-4777-8F97-B11E9FADB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3425" y="14192250"/>
            <a:ext cx="8493125" cy="8096250"/>
          </a:xfrm>
          <a:prstGeom xmlns:a="http://schemas.openxmlformats.org/drawingml/2006/main" prst="roundRect">
            <a:avLst>
              <a:gd name="adj" fmla="val 941"/>
            </a:avLst>
          </a:prstGeom>
          <a:noFill xmlns:a="http://schemas.openxmlformats.org/drawingml/2006/main"/>
          <a:ln xmlns:a="http://schemas.openxmlformats.org/drawingml/2006/main" w="28575">
            <a:solidFill>
              <a:srgbClr val="D8D8D3"/>
            </a:solidFill>
            <a:prstDash val="solid"/>
          </a:ln>
        </p:spPr>
      </p:sp>
      <p:sp>
        <p:nvSpPr>
          <p:cNvPr id="31" name="site-screenshot-shadow">
            <a:extLst xmlns:a="http://schemas.openxmlformats.org/drawingml/2006/main">
              <a:ext uri="{FF2B5EF4-FFF2-40B4-BE49-F238E27FC236}">
                <a16:creationId xmlns:a16="http://schemas.microsoft.com/office/drawing/2014/main" id="{841758E0-4A1C-47C4-8A28-D69AFB75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7600" y="14306550"/>
            <a:ext cx="8493125" cy="8096250"/>
          </a:xfrm>
          <a:prstGeom xmlns:a="http://schemas.openxmlformats.org/drawingml/2006/main" prst="roundRect">
            <a:avLst>
              <a:gd name="adj" fmla="val 941"/>
            </a:avLst>
          </a:prstGeom>
          <a:solidFill xmlns:a="http://schemas.openxmlformats.org/drawingml/2006/main">
            <a:srgbClr val="E9E9E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6BD01E-A049-4CD5-BD32-94D3AC1DFA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e1959d079d43c4"/>
          <a:srcRect xmlns:a="http://schemas.openxmlformats.org/drawingml/2006/main" l="13000" t="17000" r="52000" b="3000"/>
          <a:stretch xmlns:a="http://schemas.openxmlformats.org/drawingml/2006/main"/>
        </p:blipFill>
        <p:spPr>
          <a:xfrm xmlns:a="http://schemas.openxmlformats.org/drawingml/2006/main">
            <a:off x="20072350" y="14192250"/>
            <a:ext cx="8493125" cy="8096250"/>
          </a:xfrm>
          <a:prstGeom xmlns:a="http://schemas.openxmlformats.org/drawingml/2006/main" prst="roundRect">
            <a:avLst>
              <a:gd name="adj" fmla="val 2118"/>
            </a:avLst>
          </a:prstGeom>
        </p:spPr>
      </p:pic>
      <p:sp>
        <p:nvSpPr>
          <p:cNvPr id="33" name="site-screenshot-border">
            <a:extLst xmlns:a="http://schemas.openxmlformats.org/drawingml/2006/main">
              <a:ext uri="{FF2B5EF4-FFF2-40B4-BE49-F238E27FC236}">
                <a16:creationId xmlns:a16="http://schemas.microsoft.com/office/drawing/2014/main" id="{E4A86F4B-18DF-488B-8678-978D8A40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72350" y="14192250"/>
            <a:ext cx="8493125" cy="8096250"/>
          </a:xfrm>
          <a:prstGeom xmlns:a="http://schemas.openxmlformats.org/drawingml/2006/main" prst="roundRect">
            <a:avLst>
              <a:gd name="adj" fmla="val 941"/>
            </a:avLst>
          </a:prstGeom>
          <a:noFill xmlns:a="http://schemas.openxmlformats.org/drawingml/2006/main"/>
          <a:ln xmlns:a="http://schemas.openxmlformats.org/drawingml/2006/main" w="28575">
            <a:solidFill>
              <a:srgbClr val="D8D8D3"/>
            </a:solidFill>
            <a:prstDash val="solid"/>
          </a:ln>
        </p:spPr>
      </p:sp>
      <p:sp>
        <p:nvSpPr>
          <p:cNvPr id="34" name="legacy-caption">
            <a:extLst xmlns:a="http://schemas.openxmlformats.org/drawingml/2006/main">
              <a:ext uri="{FF2B5EF4-FFF2-40B4-BE49-F238E27FC236}">
                <a16:creationId xmlns:a16="http://schemas.microsoft.com/office/drawing/2014/main" id="{763BE887-58EC-4C32-ADA7-1421DA973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2479000"/>
            <a:ext cx="8493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303030"/>
                </a:solidFill>
              </a:defRPr>
            </a:defPPr>
          </a:lstStyle>
          <a:p xmlns:a="http://schemas.openxmlformats.org/drawingml/2006/main">
            <a:pPr algn="ctr">
              <a:buNone/>
              <a:defRPr sz="2100" b="1">
                <a:solidFill>
                  <a:srgbClr val="303030"/>
                </a:solidFill>
              </a:defRPr>
            </a:pPr>
            <a:r>
              <a:rPr sz="2100" b="1">
                <a:solidFill>
                  <a:srgbClr val="303030"/>
                </a:solidFill>
              </a:rPr>
              <a:t>Existing content and familiar thesaurus relationships</a:t>
            </a:r>
          </a:p>
        </p:txBody>
      </p:sp>
      <p:sp>
        <p:nvSpPr>
          <p:cNvPr id="35" name="edit-caption">
            <a:extLst xmlns:a="http://schemas.openxmlformats.org/drawingml/2006/main">
              <a:ext uri="{FF2B5EF4-FFF2-40B4-BE49-F238E27FC236}">
                <a16:creationId xmlns:a16="http://schemas.microsoft.com/office/drawing/2014/main" id="{0C0E3918-3317-4095-82BC-5DF15031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3425" y="22479000"/>
            <a:ext cx="8493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303030"/>
                </a:solidFill>
              </a:defRPr>
            </a:defPPr>
          </a:lstStyle>
          <a:p xmlns:a="http://schemas.openxmlformats.org/drawingml/2006/main">
            <a:pPr algn="ctr">
              <a:buNone/>
              <a:defRPr sz="2100" b="1">
                <a:solidFill>
                  <a:srgbClr val="303030"/>
                </a:solidFill>
              </a:defRPr>
            </a:pPr>
            <a:r>
              <a:rPr sz="2100" b="1">
                <a:solidFill>
                  <a:srgbClr val="303030"/>
                </a:solidFill>
              </a:rPr>
              <a:t>Edit, review and validate one governed source</a:t>
            </a:r>
          </a:p>
        </p:txBody>
      </p:sp>
      <p:sp>
        <p:nvSpPr>
          <p:cNvPr id="36" name="site-caption">
            <a:extLst xmlns:a="http://schemas.openxmlformats.org/drawingml/2006/main">
              <a:ext uri="{FF2B5EF4-FFF2-40B4-BE49-F238E27FC236}">
                <a16:creationId xmlns:a16="http://schemas.microsoft.com/office/drawing/2014/main" id="{D3837896-BEE7-481A-B9F5-7F0438C4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72350" y="22479000"/>
            <a:ext cx="8493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303030"/>
                </a:solidFill>
              </a:defRPr>
            </a:defPPr>
          </a:lstStyle>
          <a:p xmlns:a="http://schemas.openxmlformats.org/drawingml/2006/main">
            <a:pPr algn="ctr">
              <a:buNone/>
              <a:defRPr sz="2100" b="1">
                <a:solidFill>
                  <a:srgbClr val="303030"/>
                </a:solidFill>
              </a:defRPr>
            </a:pPr>
            <a:r>
              <a:rPr sz="2100" b="1">
                <a:solidFill>
                  <a:srgbClr val="303030"/>
                </a:solidFill>
              </a:rPr>
              <a:t>Publish for humans and machines without changing identifiers</a:t>
            </a:r>
          </a:p>
        </p:txBody>
      </p:sp>
      <p:sp>
        <p:nvSpPr>
          <p:cNvPr id="37" name="table-accent">
            <a:extLst xmlns:a="http://schemas.openxmlformats.org/drawingml/2006/main">
              <a:ext uri="{FF2B5EF4-FFF2-40B4-BE49-F238E27FC236}">
                <a16:creationId xmlns:a16="http://schemas.microsoft.com/office/drawing/2014/main" id="{288FC761-72F5-422A-AB30-A501FCDE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907750"/>
            <a:ext cx="190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table-title">
            <a:extLst xmlns:a="http://schemas.openxmlformats.org/drawingml/2006/main">
              <a:ext uri="{FF2B5EF4-FFF2-40B4-BE49-F238E27FC236}">
                <a16:creationId xmlns:a16="http://schemas.microsoft.com/office/drawing/2014/main" id="{50A846A7-97FF-4E6F-979D-68A5A9B6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3860125"/>
            <a:ext cx="1524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600" b="1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</a:rPr>
              <a:t>Making implicit meaning explicit</a:t>
            </a:r>
          </a:p>
        </p:txBody>
      </p:sp>
      <p:sp>
        <p:nvSpPr>
          <p:cNvPr id="39" name="table-intro">
            <a:extLst xmlns:a="http://schemas.openxmlformats.org/drawingml/2006/main">
              <a:ext uri="{FF2B5EF4-FFF2-40B4-BE49-F238E27FC236}">
                <a16:creationId xmlns:a16="http://schemas.microsoft.com/office/drawing/2014/main" id="{32D65283-E88D-4E11-A320-5B31E090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688800"/>
            <a:ext cx="1724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>
                <a:solidFill>
                  <a:srgbClr val="666666"/>
                </a:solidFill>
              </a:defRPr>
            </a:defPPr>
          </a:lstStyle>
          <a:p xmlns:a="http://schemas.openxmlformats.org/drawingml/2006/main">
            <a:pPr>
              <a:buNone/>
              <a:defRPr sz="2175">
                <a:solidFill>
                  <a:srgbClr val="666666"/>
                </a:solidFill>
              </a:defRPr>
            </a:pPr>
            <a:r>
              <a:rPr sz="2175">
                <a:solidFill>
                  <a:srgbClr val="666666"/>
                </a:solidFill>
              </a:rPr>
              <a:t>The migration preserves ATED’s meaning while expressing it with durable Web identifiers and standard SKOS semantics.</a:t>
            </a:r>
          </a:p>
        </p:txBody>
      </p:sp>
      <p:graphicFrame>
        <p:nvGraphicFrame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0500573-B0A6-4F76-ACB8-5FFCB79B106E}"/>
              </a:ext>
            </a:extLst>
          </p:cNvPr>
          <p:cNvGraphicFramePr/>
          <p:nvPr/>
        </p:nvGraphicFramePr>
        <p:xfrm>
          <a:off xmlns:a="http://schemas.openxmlformats.org/drawingml/2006/main" x="1714500" y="25669875"/>
          <a:ext xmlns:a="http://schemas.openxmlformats.org/drawingml/2006/main" cx="17240250" cy="6238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715250"/>
                <a:gridCol w="9525000"/>
              </a:tblGrid>
              <a:tr h="779859"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FFFFFF"/>
                          </a:solidFill>
                        </a:rPr>
                        <a:t>Legacy expression</a:t>
                      </a:r>
                    </a:p>
                  </a:txBody>
                  <a:tcPr marL="209550" marR="171450" marT="95250" marB="76200" anchor="ctr">
                    <a:lnL w="19050">
                      <a:solidFill>
                        <a:srgbClr val="D8D8D3"/>
                      </a:solidFill>
                      <a:prstDash val="solid"/>
                    </a:lnL>
                    <a:lnR w="19050">
                      <a:solidFill>
                        <a:srgbClr val="D8D8D3"/>
                      </a:solidFill>
                      <a:prstDash val="solid"/>
                    </a:lnR>
                    <a:lnT w="19050">
                      <a:solidFill>
                        <a:srgbClr val="D8D8D3"/>
                      </a:solidFill>
                      <a:prstDash val="solid"/>
                    </a:lnT>
                    <a:lnB w="19050">
                      <a:solidFill>
                        <a:srgbClr val="D8D8D3"/>
                      </a:solidFill>
                      <a:prstDash val="soli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FFFFFF"/>
                          </a:solidFill>
                        </a:rPr>
                        <a:t>Semantic Web expression</a:t>
                      </a:r>
                    </a:p>
                  </a:txBody>
                  <a:tcPr marL="209550" marR="171450" marT="95250" marB="76200" anchor="ctr">
                    <a:lnR w="19050">
                      <a:solidFill>
                        <a:srgbClr val="D8D8D3"/>
                      </a:solidFill>
                      <a:prstDash val="solid"/>
                    </a:lnR>
                    <a:lnT w="19050">
                      <a:solidFill>
                        <a:srgbClr val="D8D8D3"/>
                      </a:solidFill>
                      <a:prstDash val="solid"/>
                    </a:lnT>
                    <a:lnB w="19050">
                      <a:solidFill>
                        <a:srgbClr val="D8D8D3"/>
                      </a:solidFill>
                      <a:prstDash val="solid"/>
                    </a:lnB>
                    <a:solidFill>
                      <a:srgbClr val="171717"/>
                    </a:solidFill>
                  </a:tcPr>
                </a:tc>
              </a:tr>
              <a:tr h="779859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303030"/>
                          </a:solidFill>
                        </a:rPr>
                        <a:t>TNR 1498</a:t>
                      </a:r>
                    </a:p>
                  </a:txBody>
                  <a:tcPr marL="209550" marR="171450" marT="76200" marB="57150" anchor="ctr">
                    <a:lnL w="19050">
                      <a:solidFill>
                        <a:srgbClr val="D8D8D3"/>
                      </a:solidFill>
                      <a:prstDash val="solid"/>
                    </a:lnL>
                    <a:lnR w="19050">
                      <a:solidFill>
                        <a:srgbClr val="D8D8D3"/>
                      </a:solidFill>
                      <a:prstDash val="solid"/>
                    </a:lnR>
                    <a:lnB w="19050">
                      <a:solidFill>
                        <a:srgbClr val="D8D8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1717"/>
                          </a:solidFill>
                        </a:rPr>
                        <a:t>stable HTTP IRI + skos:notation "1498"</a:t>
                      </a:r>
                    </a:p>
                  </a:txBody>
                  <a:tcPr marL="209550" marR="171450" marT="76200" marB="57150" anchor="ctr">
                    <a:lnR w="19050">
                      <a:solidFill>
                        <a:srgbClr val="D8D8D3"/>
                      </a:solidFill>
                      <a:prstDash val="solid"/>
                    </a:lnR>
                    <a:lnB w="19050">
                      <a:solidFill>
                        <a:srgbClr val="D8D8D3"/>
                      </a:solidFill>
                      <a:prstDash val="solid"/>
                    </a:lnB>
                  </a:tcPr>
                </a:tc>
              </a:tr>
              <a:tr h="779859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303030"/>
                          </a:solidFill>
                        </a:rPr>
                        <a:t>Used For / UF</a:t>
                      </a:r>
                    </a:p>
                  </a:txBody>
                  <a:tcPr marL="209550" marR="171450" marT="76200" marB="57150" anchor="ctr">
                    <a:lnL w="19050">
                      <a:solidFill>
                        <a:srgbClr val="D8D8D3"/>
                      </a:solidFill>
                      <a:prstDash val="solid"/>
                    </a:lnL>
                    <a:lnR w="19050">
                      <a:solidFill>
                        <a:srgbClr val="D8D8D3"/>
                      </a:solidFill>
                      <a:prstDash val="solid"/>
                    </a:lnR>
                    <a:lnB w="19050">
                      <a:solidFill>
                        <a:srgbClr val="D8D8D3"/>
                      </a:solidFill>
                      <a:prstDash val="solid"/>
                    </a:lnB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1717"/>
                          </a:solidFill>
                        </a:rPr>
                        <a:t>skos:altLabel</a:t>
                      </a:r>
                    </a:p>
                  </a:txBody>
                  <a:tcPr marL="209550" marR="171450" marT="76200" marB="57150" anchor="ctr">
                    <a:lnR w="19050">
                      <a:solidFill>
                        <a:srgbClr val="D8D8D3"/>
                      </a:solidFill>
                      <a:prstDash val="solid"/>
                    </a:lnR>
                    <a:lnB w="19050">
                      <a:solidFill>
                        <a:srgbClr val="D8D8D3"/>
                      </a:solidFill>
                      <a:prstDash val="solid"/>
                    </a:lnB>
                    <a:solidFill>
                      <a:srgbClr val="F3F3F1"/>
                    </a:solidFill>
                  </a:tcPr>
                </a:tc>
              </a:tr>
              <a:tr h="779859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303030"/>
                          </a:solidFill>
                        </a:rPr>
                        <a:t>Broader Term / BT</a:t>
                      </a:r>
                    </a:p>
                  </a:txBody>
                  <a:tcPr marL="209550" marR="171450" marT="76200" marB="57150" anchor="ctr">
                    <a:lnL w="19050">
                      <a:solidFill>
                        <a:srgbClr val="D8D8D3"/>
                      </a:solidFill>
                      <a:prstDash val="solid"/>
                    </a:lnL>
                    <a:lnR w="19050">
                      <a:solidFill>
                        <a:srgbClr val="D8D8D3"/>
                      </a:solidFill>
                      <a:prstDash val="solid"/>
                    </a:lnR>
                    <a:lnB w="19050">
                      <a:solidFill>
                        <a:srgbClr val="D8D8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1717"/>
                          </a:solidFill>
                        </a:rPr>
                        <a:t>skos:broader</a:t>
                      </a:r>
                    </a:p>
                  </a:txBody>
                  <a:tcPr marL="209550" marR="171450" marT="76200" marB="57150" anchor="ctr">
                    <a:lnR w="19050">
                      <a:solidFill>
                        <a:srgbClr val="D8D8D3"/>
                      </a:solidFill>
                      <a:prstDash val="solid"/>
                    </a:lnR>
                    <a:lnB w="19050">
                      <a:solidFill>
                        <a:srgbClr val="D8D8D3"/>
                      </a:solidFill>
                      <a:prstDash val="solid"/>
                    </a:lnB>
                  </a:tcPr>
                </a:tc>
              </a:tr>
              <a:tr h="779859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303030"/>
                          </a:solidFill>
                        </a:rPr>
                        <a:t>Narrower Term / NT</a:t>
                      </a:r>
                    </a:p>
                  </a:txBody>
                  <a:tcPr marL="209550" marR="171450" marT="76200" marB="57150" anchor="ctr">
                    <a:lnL w="19050">
                      <a:solidFill>
                        <a:srgbClr val="D8D8D3"/>
                      </a:solidFill>
                      <a:prstDash val="solid"/>
                    </a:lnL>
                    <a:lnR w="19050">
                      <a:solidFill>
                        <a:srgbClr val="D8D8D3"/>
                      </a:solidFill>
                      <a:prstDash val="solid"/>
                    </a:lnR>
                    <a:lnB w="19050">
                      <a:solidFill>
                        <a:srgbClr val="D8D8D3"/>
                      </a:solidFill>
                      <a:prstDash val="solid"/>
                    </a:lnB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1717"/>
                          </a:solidFill>
                        </a:rPr>
                        <a:t>skos:narrower</a:t>
                      </a:r>
                    </a:p>
                  </a:txBody>
                  <a:tcPr marL="209550" marR="171450" marT="76200" marB="57150" anchor="ctr">
                    <a:lnR w="19050">
                      <a:solidFill>
                        <a:srgbClr val="D8D8D3"/>
                      </a:solidFill>
                      <a:prstDash val="solid"/>
                    </a:lnR>
                    <a:lnB w="19050">
                      <a:solidFill>
                        <a:srgbClr val="D8D8D3"/>
                      </a:solidFill>
                      <a:prstDash val="solid"/>
                    </a:lnB>
                    <a:solidFill>
                      <a:srgbClr val="F3F3F1"/>
                    </a:solidFill>
                  </a:tcPr>
                </a:tc>
              </a:tr>
              <a:tr h="779859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303030"/>
                          </a:solidFill>
                        </a:rPr>
                        <a:t>Related Term / RT</a:t>
                      </a:r>
                    </a:p>
                  </a:txBody>
                  <a:tcPr marL="209550" marR="171450" marT="76200" marB="57150" anchor="ctr">
                    <a:lnL w="19050">
                      <a:solidFill>
                        <a:srgbClr val="D8D8D3"/>
                      </a:solidFill>
                      <a:prstDash val="solid"/>
                    </a:lnL>
                    <a:lnR w="19050">
                      <a:solidFill>
                        <a:srgbClr val="D8D8D3"/>
                      </a:solidFill>
                      <a:prstDash val="solid"/>
                    </a:lnR>
                    <a:lnB w="19050">
                      <a:solidFill>
                        <a:srgbClr val="D8D8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1717"/>
                          </a:solidFill>
                        </a:rPr>
                        <a:t>skos:related</a:t>
                      </a:r>
                    </a:p>
                  </a:txBody>
                  <a:tcPr marL="209550" marR="171450" marT="76200" marB="57150" anchor="ctr">
                    <a:lnR w="19050">
                      <a:solidFill>
                        <a:srgbClr val="D8D8D3"/>
                      </a:solidFill>
                      <a:prstDash val="solid"/>
                    </a:lnR>
                    <a:lnB w="19050">
                      <a:solidFill>
                        <a:srgbClr val="D8D8D3"/>
                      </a:solidFill>
                      <a:prstDash val="solid"/>
                    </a:lnB>
                  </a:tcPr>
                </a:tc>
              </a:tr>
              <a:tr h="779859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303030"/>
                          </a:solidFill>
                        </a:rPr>
                        <a:t>Date Added Jan 84</a:t>
                      </a:r>
                    </a:p>
                  </a:txBody>
                  <a:tcPr marL="209550" marR="171450" marT="76200" marB="57150" anchor="ctr">
                    <a:lnL w="19050">
                      <a:solidFill>
                        <a:srgbClr val="D8D8D3"/>
                      </a:solidFill>
                      <a:prstDash val="solid"/>
                    </a:lnL>
                    <a:lnR w="19050">
                      <a:solidFill>
                        <a:srgbClr val="D8D8D3"/>
                      </a:solidFill>
                      <a:prstDash val="solid"/>
                    </a:lnR>
                    <a:lnB w="19050">
                      <a:solidFill>
                        <a:srgbClr val="D8D8D3"/>
                      </a:solidFill>
                      <a:prstDash val="solid"/>
                    </a:lnB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1717"/>
                          </a:solidFill>
                        </a:rPr>
                        <a:t>"1984-01"^^xsd:gYearMonth</a:t>
                      </a:r>
                    </a:p>
                  </a:txBody>
                  <a:tcPr marL="209550" marR="171450" marT="76200" marB="57150" anchor="ctr">
                    <a:lnR w="19050">
                      <a:solidFill>
                        <a:srgbClr val="D8D8D3"/>
                      </a:solidFill>
                      <a:prstDash val="solid"/>
                    </a:lnR>
                    <a:lnB w="19050">
                      <a:solidFill>
                        <a:srgbClr val="D8D8D3"/>
                      </a:solidFill>
                      <a:prstDash val="solid"/>
                    </a:lnB>
                    <a:solidFill>
                      <a:srgbClr val="F3F3F1"/>
                    </a:solidFill>
                  </a:tcPr>
                </a:tc>
              </a:tr>
              <a:tr h="779859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303030"/>
                          </a:solidFill>
                        </a:rPr>
                        <a:t>English display text</a:t>
                      </a:r>
                    </a:p>
                  </a:txBody>
                  <a:tcPr marL="209550" marR="171450" marT="76200" marB="57150" anchor="ctr">
                    <a:lnL w="19050">
                      <a:solidFill>
                        <a:srgbClr val="D8D8D3"/>
                      </a:solidFill>
                      <a:prstDash val="solid"/>
                    </a:lnL>
                    <a:lnR w="19050">
                      <a:solidFill>
                        <a:srgbClr val="D8D8D3"/>
                      </a:solidFill>
                      <a:prstDash val="solid"/>
                    </a:lnR>
                    <a:lnB w="19050">
                      <a:solidFill>
                        <a:srgbClr val="D8D8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1717"/>
                          </a:solidFill>
                        </a:rPr>
                        <a:t>"Morphemes"@en</a:t>
                      </a:r>
                    </a:p>
                  </a:txBody>
                  <a:tcPr marL="209550" marR="171450" marT="76200" marB="57150" anchor="ctr">
                    <a:lnR w="19050">
                      <a:solidFill>
                        <a:srgbClr val="D8D8D3"/>
                      </a:solidFill>
                      <a:prstDash val="solid"/>
                    </a:lnR>
                    <a:lnB w="19050">
                      <a:solidFill>
                        <a:srgbClr val="D8D8D3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1" name="work-box">
            <a:extLst xmlns:a="http://schemas.openxmlformats.org/drawingml/2006/main">
              <a:ext uri="{FF2B5EF4-FFF2-40B4-BE49-F238E27FC236}">
                <a16:creationId xmlns:a16="http://schemas.microsoft.com/office/drawing/2014/main" id="{C2E976D9-E66C-4935-92C0-DAC90954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0" y="23907750"/>
            <a:ext cx="8848725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3F3F1"/>
          </a:solidFill>
          <a:ln xmlns:a="http://schemas.openxmlformats.org/drawingml/2006/main" w="19050">
            <a:solidFill>
              <a:srgbClr val="D8D8D3"/>
            </a:solidFill>
            <a:prstDash val="solid"/>
          </a:ln>
        </p:spPr>
      </p:sp>
      <p:sp>
        <p:nvSpPr>
          <p:cNvPr id="42" name="work-title">
            <a:extLst xmlns:a="http://schemas.openxmlformats.org/drawingml/2006/main">
              <a:ext uri="{FF2B5EF4-FFF2-40B4-BE49-F238E27FC236}">
                <a16:creationId xmlns:a16="http://schemas.microsoft.com/office/drawing/2014/main" id="{0D79EA41-985E-4C65-B16A-ECB8F828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73950" y="24212550"/>
            <a:ext cx="79343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300" b="1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71717"/>
                </a:solidFill>
              </a:defRPr>
            </a:pPr>
            <a:r>
              <a:rPr sz="3300" b="1">
                <a:solidFill>
                  <a:srgbClr val="171717"/>
                </a:solidFill>
              </a:rPr>
              <a:t>What required work</a:t>
            </a:r>
          </a:p>
        </p:txBody>
      </p:sp>
      <p:sp>
        <p:nvSpPr>
          <p:cNvPr id="43" name="work-body">
            <a:extLst xmlns:a="http://schemas.openxmlformats.org/drawingml/2006/main">
              <a:ext uri="{FF2B5EF4-FFF2-40B4-BE49-F238E27FC236}">
                <a16:creationId xmlns:a16="http://schemas.microsoft.com/office/drawing/2014/main" id="{94F7C867-94D8-448F-A252-4D75881FD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73950" y="24974550"/>
            <a:ext cx="7934325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>
                <a:solidFill>
                  <a:srgbClr val="303030"/>
                </a:solidFill>
              </a:defRPr>
            </a:defPPr>
          </a:lstStyle>
          <a:p xmlns:a="http://schemas.openxmlformats.org/drawingml/2006/main">
            <a:pPr>
              <a:buNone/>
              <a:defRPr sz="2175">
                <a:solidFill>
                  <a:srgbClr val="303030"/>
                </a:solidFill>
              </a:defRPr>
            </a:pPr>
            <a:r>
              <a:rPr sz="2175">
                <a:solidFill>
                  <a:srgbClr val="303030"/>
                </a:solidFill>
              </a:rPr>
              <a:t>YAML mapping rules</a:t>
            </a:r>
          </a:p>
          <a:p xmlns:a="http://schemas.openxmlformats.org/drawingml/2006/main">
            <a:pPr>
              <a:buNone/>
              <a:defRPr sz="2175">
                <a:solidFill>
                  <a:srgbClr val="303030"/>
                </a:solidFill>
              </a:defRPr>
            </a:pPr>
            <a:r>
              <a:rPr sz="2175">
                <a:solidFill>
                  <a:srgbClr val="303030"/>
                </a:solidFill>
              </a:rPr>
              <a:t>RDFLib transformation</a:t>
            </a:r>
          </a:p>
          <a:p xmlns:a="http://schemas.openxmlformats.org/drawingml/2006/main">
            <a:pPr>
              <a:buNone/>
              <a:defRPr sz="2175">
                <a:solidFill>
                  <a:srgbClr val="303030"/>
                </a:solidFill>
              </a:defRPr>
            </a:pPr>
            <a:r>
              <a:rPr sz="2175">
                <a:solidFill>
                  <a:srgbClr val="303030"/>
                </a:solidFill>
              </a:rPr>
              <a:t>SHACL validation</a:t>
            </a:r>
          </a:p>
          <a:p xmlns:a="http://schemas.openxmlformats.org/drawingml/2006/main">
            <a:pPr>
              <a:buNone/>
              <a:defRPr sz="2175">
                <a:solidFill>
                  <a:srgbClr val="303030"/>
                </a:solidFill>
              </a:defRPr>
            </a:pPr>
            <a:r>
              <a:rPr sz="2175">
                <a:solidFill>
                  <a:srgbClr val="303030"/>
                </a:solidFill>
              </a:rPr>
              <a:t>Resolution of label-based links</a:t>
            </a:r>
          </a:p>
          <a:p xmlns:a="http://schemas.openxmlformats.org/drawingml/2006/main">
            <a:pPr>
              <a:buNone/>
              <a:defRPr sz="2175">
                <a:solidFill>
                  <a:srgbClr val="303030"/>
                </a:solidFill>
              </a:defRPr>
            </a:pPr>
            <a:r>
              <a:rPr sz="2175">
                <a:solidFill>
                  <a:srgbClr val="303030"/>
                </a:solidFill>
              </a:rPr>
              <a:t>Search deduplication and clear “matched on” presentation</a:t>
            </a:r>
          </a:p>
        </p:txBody>
      </p:sp>
      <p:sp>
        <p:nvSpPr>
          <p:cNvPr id="44" name="hosting-box">
            <a:extLst xmlns:a="http://schemas.openxmlformats.org/drawingml/2006/main">
              <a:ext uri="{FF2B5EF4-FFF2-40B4-BE49-F238E27FC236}">
                <a16:creationId xmlns:a16="http://schemas.microsoft.com/office/drawing/2014/main" id="{748581F5-01C2-4302-85BF-63479C32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0" y="28336875"/>
            <a:ext cx="8848725" cy="3571875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FFFBE3"/>
          </a:solidFill>
          <a:ln xmlns:a="http://schemas.openxmlformats.org/drawingml/2006/main" w="28575">
            <a:solidFill>
              <a:srgbClr val="F2D600"/>
            </a:solidFill>
            <a:prstDash val="solid"/>
          </a:ln>
        </p:spPr>
      </p:sp>
      <p:sp>
        <p:nvSpPr>
          <p:cNvPr id="45" name="hosting-kicker">
            <a:extLst xmlns:a="http://schemas.openxmlformats.org/drawingml/2006/main">
              <a:ext uri="{FF2B5EF4-FFF2-40B4-BE49-F238E27FC236}">
                <a16:creationId xmlns:a16="http://schemas.microsoft.com/office/drawing/2014/main" id="{790F6A3E-D28B-4882-BABA-9C49002E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73950" y="28670250"/>
            <a:ext cx="7934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666666"/>
                </a:solidFill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666666"/>
                </a:solidFill>
              </a:defRPr>
            </a:pPr>
            <a:r>
              <a:rPr sz="2100" b="1">
                <a:solidFill>
                  <a:srgbClr val="666666"/>
                </a:solidFill>
              </a:rPr>
              <a:t>5,280 CONCEPTS · PORTABLE RDF</a:t>
            </a:r>
          </a:p>
        </p:txBody>
      </p:sp>
      <p:sp>
        <p:nvSpPr>
          <p:cNvPr id="46" name="hosting-quote">
            <a:extLst xmlns:a="http://schemas.openxmlformats.org/drawingml/2006/main">
              <a:ext uri="{FF2B5EF4-FFF2-40B4-BE49-F238E27FC236}">
                <a16:creationId xmlns:a16="http://schemas.microsoft.com/office/drawing/2014/main" id="{34ADFBE3-9261-4477-AEDF-B5C7BE97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73950" y="29289375"/>
            <a:ext cx="79343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375" b="1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>
              <a:buNone/>
              <a:defRPr sz="3375" b="1">
                <a:solidFill>
                  <a:srgbClr val="171717"/>
                </a:solidFill>
              </a:defRPr>
            </a:pPr>
            <a:r>
              <a:rPr sz="3375" b="1">
                <a:solidFill>
                  <a:srgbClr val="171717"/>
                </a:solidFill>
              </a:rPr>
              <a:t>Hosting can change; identifiers do not.</a:t>
            </a:r>
          </a:p>
        </p:txBody>
      </p:sp>
      <p:sp>
        <p:nvSpPr>
          <p:cNvPr id="47" name="hosting-options">
            <a:extLst xmlns:a="http://schemas.openxmlformats.org/drawingml/2006/main">
              <a:ext uri="{FF2B5EF4-FFF2-40B4-BE49-F238E27FC236}">
                <a16:creationId xmlns:a16="http://schemas.microsoft.com/office/drawing/2014/main" id="{652AD821-4FEB-4290-80D4-4360F630C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73950" y="30480000"/>
            <a:ext cx="79343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>
                <a:solidFill>
                  <a:srgbClr val="303030"/>
                </a:solidFill>
              </a:defRPr>
            </a:defPPr>
          </a:lstStyle>
          <a:p xmlns:a="http://schemas.openxmlformats.org/drawingml/2006/main">
            <a:pPr>
              <a:buNone/>
              <a:defRPr sz="2025">
                <a:solidFill>
                  <a:srgbClr val="303030"/>
                </a:solidFill>
              </a:defRPr>
            </a:pPr>
            <a:r>
              <a:rPr sz="2025">
                <a:solidFill>
                  <a:srgbClr val="303030"/>
                </a:solidFill>
              </a:rPr>
              <a:t>RDF handover  |  managed K‑Maker  |  dedicated or client-hosted</a:t>
            </a:r>
          </a:p>
        </p:txBody>
      </p:sp>
      <p:sp>
        <p:nvSpPr>
          <p:cNvPr id="48" name="footer-band">
            <a:extLst xmlns:a="http://schemas.openxmlformats.org/drawingml/2006/main">
              <a:ext uri="{FF2B5EF4-FFF2-40B4-BE49-F238E27FC236}">
                <a16:creationId xmlns:a16="http://schemas.microsoft.com/office/drawing/2014/main" id="{C4E6FEDC-67B8-4E23-883A-C414F489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337500"/>
            <a:ext cx="30279975" cy="946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footer-heading">
            <a:extLst xmlns:a="http://schemas.openxmlformats.org/drawingml/2006/main">
              <a:ext uri="{FF2B5EF4-FFF2-40B4-BE49-F238E27FC236}">
                <a16:creationId xmlns:a16="http://schemas.microsoft.com/office/drawing/2014/main" id="{E307BA2A-607E-4AB2-9059-758BEA2AE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528125"/>
            <a:ext cx="1895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4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buNone/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A maintainable vocabulary, not a one-off conversion</a:t>
            </a:r>
          </a:p>
        </p:txBody>
      </p:sp>
      <p:sp>
        <p:nvSpPr>
          <p:cNvPr id="50" name="footer-body">
            <a:extLst xmlns:a="http://schemas.openxmlformats.org/drawingml/2006/main">
              <a:ext uri="{FF2B5EF4-FFF2-40B4-BE49-F238E27FC236}">
                <a16:creationId xmlns:a16="http://schemas.microsoft.com/office/drawing/2014/main" id="{41A1E851-DC24-4158-98A6-EB2705DB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718750"/>
            <a:ext cx="18573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buNone/>
              <a:defRPr sz="2700">
                <a:solidFill>
                  <a:srgbClr val="FFFFFF"/>
                </a:solidFill>
              </a:defRPr>
            </a:pPr>
            <a:r>
              <a:rPr sz="2700">
                <a:solidFill>
                  <a:srgbClr val="FFFFFF"/>
                </a:solidFill>
              </a:rPr>
              <a:t>ATED demonstrates a reusable path from legacy thesaurus data to governed editing, validation and publication. K‑Maker keeps the data portable while giving vocabulary owners a practical place to maintain it.</a:t>
            </a:r>
          </a:p>
        </p:txBody>
      </p:sp>
      <p:sp>
        <p:nvSpPr>
          <p:cNvPr id="51" name="footer-contact">
            <a:extLst xmlns:a="http://schemas.openxmlformats.org/drawingml/2006/main">
              <a:ext uri="{FF2B5EF4-FFF2-40B4-BE49-F238E27FC236}">
                <a16:creationId xmlns:a16="http://schemas.microsoft.com/office/drawing/2014/main" id="{B4B7BA42-BAD8-49B7-900C-EC1959F1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957250"/>
            <a:ext cx="1809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buNone/>
              <a:defRPr sz="2475" b="1">
                <a:solidFill>
                  <a:srgbClr val="FFFFFF"/>
                </a:solidFill>
              </a:defRPr>
            </a:pPr>
            <a:r>
              <a:rPr sz="2475" b="1">
                <a:solidFill>
                  <a:srgbClr val="FFFFFF"/>
                </a:solidFill>
              </a:rPr>
              <a:t>les@kurrawong.ai  ·  kurrawong.ai/products/k-maker</a:t>
            </a:r>
          </a:p>
        </p:txBody>
      </p:sp>
      <p:sp>
        <p:nvSpPr>
          <p:cNvPr id="52" name="footer-note">
            <a:extLst xmlns:a="http://schemas.openxmlformats.org/drawingml/2006/main">
              <a:ext uri="{FF2B5EF4-FFF2-40B4-BE49-F238E27FC236}">
                <a16:creationId xmlns:a16="http://schemas.microsoft.com/office/drawing/2014/main" id="{76D3572D-18C2-445B-B4C1-41F9A974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195500"/>
            <a:ext cx="1952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>
                <a:solidFill>
                  <a:srgbClr val="C8C8C8"/>
                </a:solidFill>
              </a:defRPr>
            </a:defPPr>
          </a:lstStyle>
          <a:p xmlns:a="http://schemas.openxmlformats.org/drawingml/2006/main">
            <a:pPr>
              <a:buNone/>
              <a:defRPr sz="1875">
                <a:solidFill>
                  <a:srgbClr val="C8C8C8"/>
                </a:solidFill>
              </a:defRPr>
            </a:pPr>
            <a:r>
              <a:rPr sz="1875">
                <a:solidFill>
                  <a:srgbClr val="C8C8C8"/>
                </a:solidFill>
              </a:rPr>
              <a:t>Screenshots: Australian Council for Educational Research ATED and K‑Maker demonstration environment. Draft QR target: K‑Maker product page.</a:t>
            </a:r>
          </a:p>
        </p:txBody>
      </p:sp>
      <p:pic>
        <p:nvPic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1B3E2F6-CD5D-428A-9CA9-74A1D81DA3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57fd43d0c04f12"/>
          <a:stretch xmlns:a="http://schemas.openxmlformats.org/drawingml/2006/main"/>
        </p:blipFill>
        <p:spPr>
          <a:xfrm xmlns:a="http://schemas.openxmlformats.org/drawingml/2006/main">
            <a:off x="23241000" y="34766250"/>
            <a:ext cx="3905250" cy="3905250"/>
          </a:xfrm>
          <a:prstGeom xmlns:a="http://schemas.openxmlformats.org/drawingml/2006/main" prst="rect">
            <a:avLst/>
          </a:prstGeom>
        </p:spPr>
      </p:pic>
      <p:sp>
        <p:nvSpPr>
          <p:cNvPr id="54" name="qr-border">
            <a:extLst xmlns:a="http://schemas.openxmlformats.org/drawingml/2006/main">
              <a:ext uri="{FF2B5EF4-FFF2-40B4-BE49-F238E27FC236}">
                <a16:creationId xmlns:a16="http://schemas.microsoft.com/office/drawing/2014/main" id="{39D900DD-24A8-4D0A-8B65-82E6391B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17175" y="34642425"/>
            <a:ext cx="4152900" cy="415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0">
            <a:solidFill>
              <a:srgbClr val="F2D600"/>
            </a:solidFill>
            <a:prstDash val="solid"/>
          </a:ln>
        </p:spPr>
      </p:sp>
      <p:sp>
        <p:nvSpPr>
          <p:cNvPr id="55" name="qr-caption">
            <a:extLst xmlns:a="http://schemas.openxmlformats.org/drawingml/2006/main">
              <a:ext uri="{FF2B5EF4-FFF2-40B4-BE49-F238E27FC236}">
                <a16:creationId xmlns:a16="http://schemas.microsoft.com/office/drawing/2014/main" id="{6A60834B-62CB-4911-90B6-30A72B3A2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0" y="39243000"/>
            <a:ext cx="657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Explore K‑Maker</a:t>
            </a:r>
          </a:p>
        </p:txBody>
      </p:sp>
    </p:spTree>
    <p:extLst>
      <p:ext uri="{BB962C8B-B14F-4D97-AF65-F5344CB8AC3E}">
        <p14:creationId xmlns:p14="http://schemas.microsoft.com/office/powerpoint/2010/main" val="1498259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2026-10-12T03:33:12.0000000Z</dcterms:created>
  <dcterms:modified xsi:type="dcterms:W3CDTF">2026-10-12T03:33:12.0000000Z</dcterms:modified>
</coreProperties>
</file>