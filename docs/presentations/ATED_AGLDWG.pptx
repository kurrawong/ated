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D8"/>
          </a:solidFill>
        </a:fill>
      </a:tcStyle>
    </a:wholeTbl>
    <a:band2H>
      <a:tcTxStyle b="def" i="def"/>
      <a:tcStyle>
        <a:tcBdr/>
        <a:fill>
          <a:solidFill>
            <a:srgbClr val="E7E9EC"/>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3CB"/>
          </a:solidFill>
        </a:fill>
      </a:tcStyle>
    </a:wholeTbl>
    <a:band2H>
      <a:tcTxStyle b="def" i="def"/>
      <a:tcStyle>
        <a:tcBdr/>
        <a:fill>
          <a:solidFill>
            <a:srgbClr val="E7EAE7"/>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E1CC"/>
          </a:solidFill>
        </a:fill>
      </a:tcStyle>
    </a:wholeTbl>
    <a:band2H>
      <a:tcTxStyle b="def" i="def"/>
      <a:tcStyle>
        <a:tcBdr/>
        <a:fill>
          <a:solidFill>
            <a:srgbClr val="E8F0E7"/>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Helvetica Neue"/>
      </a:defRPr>
    </a:lvl1pPr>
    <a:lvl2pPr indent="228600" latinLnBrk="0">
      <a:defRPr sz="1200">
        <a:latin typeface="+mj-lt"/>
        <a:ea typeface="+mj-ea"/>
        <a:cs typeface="+mj-cs"/>
        <a:sym typeface="Helvetica Neue"/>
      </a:defRPr>
    </a:lvl2pPr>
    <a:lvl3pPr indent="457200" latinLnBrk="0">
      <a:defRPr sz="1200">
        <a:latin typeface="+mj-lt"/>
        <a:ea typeface="+mj-ea"/>
        <a:cs typeface="+mj-cs"/>
        <a:sym typeface="Helvetica Neue"/>
      </a:defRPr>
    </a:lvl3pPr>
    <a:lvl4pPr indent="685800" latinLnBrk="0">
      <a:defRPr sz="1200">
        <a:latin typeface="+mj-lt"/>
        <a:ea typeface="+mj-ea"/>
        <a:cs typeface="+mj-cs"/>
        <a:sym typeface="Helvetica Neue"/>
      </a:defRPr>
    </a:lvl4pPr>
    <a:lvl5pPr indent="914400" latinLnBrk="0">
      <a:defRPr sz="1200">
        <a:latin typeface="+mj-lt"/>
        <a:ea typeface="+mj-ea"/>
        <a:cs typeface="+mj-cs"/>
        <a:sym typeface="Helvetica Neue"/>
      </a:defRPr>
    </a:lvl5pPr>
    <a:lvl6pPr indent="1143000" latinLnBrk="0">
      <a:defRPr sz="1200">
        <a:latin typeface="+mj-lt"/>
        <a:ea typeface="+mj-ea"/>
        <a:cs typeface="+mj-cs"/>
        <a:sym typeface="Helvetica Neue"/>
      </a:defRPr>
    </a:lvl6pPr>
    <a:lvl7pPr indent="1371600" latinLnBrk="0">
      <a:defRPr sz="1200">
        <a:latin typeface="+mj-lt"/>
        <a:ea typeface="+mj-ea"/>
        <a:cs typeface="+mj-cs"/>
        <a:sym typeface="Helvetica Neue"/>
      </a:defRPr>
    </a:lvl7pPr>
    <a:lvl8pPr indent="1600200" latinLnBrk="0">
      <a:defRPr sz="1200">
        <a:latin typeface="+mj-lt"/>
        <a:ea typeface="+mj-ea"/>
        <a:cs typeface="+mj-cs"/>
        <a:sym typeface="Helvetica Neue"/>
      </a:defRPr>
    </a:lvl8pPr>
    <a:lvl9pPr indent="1828800" latinLnBrk="0">
      <a:defRPr sz="1200">
        <a:latin typeface="+mj-lt"/>
        <a:ea typeface="+mj-ea"/>
        <a:cs typeface="+mj-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 name="Shape 48"/>
          <p:cNvSpPr/>
          <p:nvPr>
            <p:ph type="sldImg"/>
          </p:nvPr>
        </p:nvSpPr>
        <p:spPr>
          <a:prstGeom prst="rect">
            <a:avLst/>
          </a:prstGeom>
        </p:spPr>
        <p:txBody>
          <a:bodyPr/>
          <a:lstStyle/>
          <a:p>
            <a:pPr/>
          </a:p>
        </p:txBody>
      </p:sp>
      <p:sp>
        <p:nvSpPr>
          <p:cNvPr id="49" name="Shape 49"/>
          <p:cNvSpPr/>
          <p:nvPr>
            <p:ph type="body" sz="quarter" idx="1"/>
          </p:nvPr>
        </p:nvSpPr>
        <p:spPr>
          <a:prstGeom prst="rect">
            <a:avLst/>
          </a:prstGeom>
        </p:spPr>
        <p:txBody>
          <a:bodyPr/>
          <a:lstStyle/>
          <a:p>
            <a:pPr/>
            <a:r>
              <a:t>ATED has been core Australian education terminology since 1979. ACER gave us a MultiTes XML export. The XML was structurally consistent, but it did not carry a published Semantic Web model: relationships were expressed through labels, non-descriptors pointed to preferred terms using USE, and the durable term numbers were buried in the records.</a:t>
            </a:r>
          </a:p>
          <a:p>
            <a:pPr/>
          </a:p>
          <a:p>
            <a:pPr/>
            <a:r>
              <a:t>So the modelling was intentionally conservative. Descriptor records became SKOS concepts. The MultiTes term number became both the stable IRI suffix and the notation. USE terms became alternative labels, and broader, narrower and related-term links became ordinary SKOS relationships. Subject categories remain a small, separate scheme. The result is 5,280 concepts and 41 categories.</a:t>
            </a:r>
          </a:p>
          <a:p>
            <a:pPr/>
          </a:p>
          <a:p>
            <a:pPr/>
            <a:r>
              <a:t>The surprisingly interesting part was not ontology design; it was making the conversion repeatable and the publication usable. We moved the mapping rules into YAML, kept static scheme metadata in Turtle, generated the graph with RDFLib, and validate it with SHACL and graph-equivalence tests. That makes the transformation inspectable and repeatable rather than a one-off script. The source also exposed practical edge cases: resolving label-based links safely, preserving identifiers, and avoiding duplicate or confusing search results when a concept matches through more than one label.</a:t>
            </a:r>
          </a:p>
          <a:p>
            <a:pPr/>
          </a:p>
          <a:p>
            <a:pPr/>
            <a:r>
              <a:t>The result is now visible in Prez, giving people a browsable vocabulary and machines RDF and API access. ACER also receives the self-contained RDF file, so the asset is not locked to a hosting choice. The next-stage options range from file handover, through a shared managed Prez and K-Maker service, to dedicated or client-hosted deployment. The key point is that the identifiers and data remain stable even when the hosting model changes.</a:t>
            </a:r>
          </a:p>
          <a:p>
            <a:pPr/>
          </a:p>
          <a:p>
            <a:pPr/>
            <a:r>
              <a:t>[Sources]</a:t>
            </a:r>
          </a:p>
          <a:p>
            <a:pPr/>
            <a:r>
              <a:t>- https://github.com/Kurrawong/ated (conversion implementation, mappings, SHACL shapes and dataset counts; accessed 2026-08-12)</a:t>
            </a:r>
          </a:p>
          <a:p>
            <a:pPr/>
            <a:r>
              <a:t>- https://demo.dev.kurrawong.ai/catalogs/exm:demo-vocabs/collections/ns18:ated (Prez screenshot and published ATED metadata; captured 2026-08-12)</a:t>
            </a:r>
          </a:p>
          <a:p>
            <a:pPr/>
            <a:r>
              <a:t>- https://www.w3.org/TR/skos-reference/ (SKOS terminology; accessed 2026-08-12)</a:t>
            </a:r>
          </a:p>
          <a:p>
            <a:pPr/>
            <a:r>
              <a:t>[/Sources]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914400" y="1844675"/>
            <a:ext cx="10363200" cy="2041525"/>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1828800" y="3886200"/>
            <a:ext cx="8534400" cy="2971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atin typeface="+mn-lt"/>
                <a:ea typeface="+mn-ea"/>
                <a:cs typeface="+mn-cs"/>
                <a:sym typeface="Helvetic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1pPr>
      <a:lvl2pPr marL="723900" marR="0" indent="-2667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2pPr>
      <a:lvl3pPr marL="1234439" marR="0" indent="-320039"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3pPr>
      <a:lvl4pPr marL="17272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4pPr>
      <a:lvl5pPr marL="21844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5pPr>
      <a:lvl6pPr marL="26416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6pPr>
      <a:lvl7pPr marL="30988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7pPr>
      <a:lvl8pPr marL="35560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8pPr>
      <a:lvl9pPr marL="40132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jpeg"/><Relationship Id="rId5" Type="http://schemas.openxmlformats.org/officeDocument/2006/relationships/image" Target="../media/image2.png"/><Relationship Id="rId6"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11111"/>
        </a:solidFill>
      </p:bgPr>
    </p:bg>
    <p:spTree>
      <p:nvGrpSpPr>
        <p:cNvPr id="1" name=""/>
        <p:cNvGrpSpPr/>
        <p:nvPr/>
      </p:nvGrpSpPr>
      <p:grpSpPr>
        <a:xfrm>
          <a:off x="0" y="0"/>
          <a:ext cx="0" cy="0"/>
          <a:chOff x="0" y="0"/>
          <a:chExt cx="0" cy="0"/>
        </a:xfrm>
      </p:grpSpPr>
      <p:grpSp>
        <p:nvGrpSpPr>
          <p:cNvPr id="22" name="Group"/>
          <p:cNvGrpSpPr/>
          <p:nvPr/>
        </p:nvGrpSpPr>
        <p:grpSpPr>
          <a:xfrm>
            <a:off x="9867900" y="320675"/>
            <a:ext cx="1809750" cy="695325"/>
            <a:chOff x="0" y="0"/>
            <a:chExt cx="1809750" cy="695325"/>
          </a:xfrm>
        </p:grpSpPr>
        <p:sp>
          <p:nvSpPr>
            <p:cNvPr id="20" name="logo-field"/>
            <p:cNvSpPr/>
            <p:nvPr/>
          </p:nvSpPr>
          <p:spPr>
            <a:xfrm>
              <a:off x="0" y="0"/>
              <a:ext cx="1809750" cy="695325"/>
            </a:xfrm>
            <a:prstGeom prst="roundRect">
              <a:avLst>
                <a:gd name="adj" fmla="val 10959"/>
              </a:avLst>
            </a:prstGeom>
            <a:solidFill>
              <a:srgbClr val="FFFFFF"/>
            </a:solidFill>
            <a:ln w="3175" cap="flat">
              <a:solidFill>
                <a:srgbClr val="FFFFFF"/>
              </a:solidFill>
              <a:prstDash val="solid"/>
              <a:round/>
            </a:ln>
            <a:effectLst/>
          </p:spPr>
          <p:txBody>
            <a:bodyPr wrap="square" lIns="0" tIns="0" rIns="0" bIns="0" numCol="1" anchor="t">
              <a:noAutofit/>
            </a:bodyPr>
            <a:lstStyle/>
            <a:p>
              <a:pPr/>
            </a:p>
          </p:txBody>
        </p:sp>
        <p:pic>
          <p:nvPicPr>
            <p:cNvPr id="21" name="image.png" descr="image.png"/>
            <p:cNvPicPr>
              <a:picLocks noChangeAspect="1"/>
            </p:cNvPicPr>
            <p:nvPr/>
          </p:nvPicPr>
          <p:blipFill>
            <a:blip r:embed="rId3">
              <a:extLst/>
            </a:blip>
            <a:stretch>
              <a:fillRect/>
            </a:stretch>
          </p:blipFill>
          <p:spPr>
            <a:xfrm>
              <a:off x="213976" y="66675"/>
              <a:ext cx="1381798" cy="561975"/>
            </a:xfrm>
            <a:prstGeom prst="rect">
              <a:avLst/>
            </a:prstGeom>
            <a:ln w="12700" cap="flat">
              <a:noFill/>
              <a:miter lim="400000"/>
            </a:ln>
            <a:effectLst/>
          </p:spPr>
        </p:pic>
      </p:grpSp>
      <p:sp>
        <p:nvSpPr>
          <p:cNvPr id="23" name="eyebrow"/>
          <p:cNvSpPr txBox="1"/>
          <p:nvPr/>
        </p:nvSpPr>
        <p:spPr>
          <a:xfrm>
            <a:off x="636269" y="301163"/>
            <a:ext cx="7433312"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F4CE14"/>
                </a:solidFill>
              </a:defRPr>
            </a:lvl1pPr>
          </a:lstStyle>
          <a:p>
            <a:pPr/>
            <a:r>
              <a:t>AUSTRALIAN THESAURUS OF EDUCATION DESCRIPTORS</a:t>
            </a:r>
          </a:p>
        </p:txBody>
      </p:sp>
      <p:sp>
        <p:nvSpPr>
          <p:cNvPr id="24" name="title"/>
          <p:cNvSpPr txBox="1"/>
          <p:nvPr/>
        </p:nvSpPr>
        <p:spPr>
          <a:xfrm>
            <a:off x="648969" y="612775"/>
            <a:ext cx="8719187" cy="43486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700">
                <a:solidFill>
                  <a:srgbClr val="FFFFFF"/>
                </a:solidFill>
              </a:defRPr>
            </a:pPr>
            <a:r>
              <a:t>Modelling was simple. Making it durable = </a:t>
            </a:r>
            <a:r>
              <a:rPr i="1"/>
              <a:t>the project</a:t>
            </a:r>
          </a:p>
        </p:txBody>
      </p:sp>
      <p:sp>
        <p:nvSpPr>
          <p:cNvPr id="25" name="title-rule"/>
          <p:cNvSpPr/>
          <p:nvPr/>
        </p:nvSpPr>
        <p:spPr>
          <a:xfrm>
            <a:off x="590550" y="1133475"/>
            <a:ext cx="1057275" cy="47625"/>
          </a:xfrm>
          <a:prstGeom prst="rect">
            <a:avLst/>
          </a:prstGeom>
          <a:solidFill>
            <a:srgbClr val="F4CE14"/>
          </a:solidFill>
          <a:ln w="3175">
            <a:solidFill>
              <a:srgbClr val="F4CE14"/>
            </a:solidFill>
          </a:ln>
        </p:spPr>
        <p:txBody>
          <a:bodyPr lIns="0" tIns="0" rIns="0" bIns="0"/>
          <a:lstStyle/>
          <a:p>
            <a:pPr/>
          </a:p>
        </p:txBody>
      </p:sp>
      <p:sp>
        <p:nvSpPr>
          <p:cNvPr id="26" name="step-one"/>
          <p:cNvSpPr txBox="1"/>
          <p:nvPr/>
        </p:nvSpPr>
        <p:spPr>
          <a:xfrm>
            <a:off x="594994" y="1393825"/>
            <a:ext cx="432437"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F4CE14"/>
                </a:solidFill>
              </a:defRPr>
            </a:lvl1pPr>
          </a:lstStyle>
          <a:p>
            <a:pPr/>
            <a:r>
              <a:t>01</a:t>
            </a:r>
          </a:p>
        </p:txBody>
      </p:sp>
      <p:sp>
        <p:nvSpPr>
          <p:cNvPr id="27" name="source-heading"/>
          <p:cNvSpPr txBox="1"/>
          <p:nvPr/>
        </p:nvSpPr>
        <p:spPr>
          <a:xfrm>
            <a:off x="1102994" y="1400175"/>
            <a:ext cx="2385062" cy="33028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900">
                <a:solidFill>
                  <a:srgbClr val="FFFFFF"/>
                </a:solidFill>
              </a:defRPr>
            </a:lvl1pPr>
          </a:lstStyle>
          <a:p>
            <a:pPr/>
            <a:r>
              <a:t>MultiTes</a:t>
            </a:r>
          </a:p>
        </p:txBody>
      </p:sp>
      <p:sp>
        <p:nvSpPr>
          <p:cNvPr id="28" name="source-body"/>
          <p:cNvSpPr txBox="1"/>
          <p:nvPr/>
        </p:nvSpPr>
        <p:spPr>
          <a:xfrm>
            <a:off x="1113424" y="1866900"/>
            <a:ext cx="2527936" cy="106453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17999"/>
              </a:lnSpc>
              <a:defRPr sz="1500">
                <a:solidFill>
                  <a:srgbClr val="D7D7D7"/>
                </a:solidFill>
              </a:defRPr>
            </a:pPr>
            <a:r>
              <a:t>Implicit XML structure</a:t>
            </a:r>
          </a:p>
          <a:p>
            <a:pPr>
              <a:lnSpc>
                <a:spcPct val="117999"/>
              </a:lnSpc>
              <a:defRPr sz="1500">
                <a:solidFill>
                  <a:srgbClr val="D7D7D7"/>
                </a:solidFill>
              </a:defRPr>
            </a:pPr>
            <a:r>
              <a:t>Label-based relationships</a:t>
            </a:r>
          </a:p>
          <a:p>
            <a:pPr>
              <a:lnSpc>
                <a:spcPct val="117999"/>
              </a:lnSpc>
              <a:defRPr sz="1500">
                <a:solidFill>
                  <a:srgbClr val="D7D7D7"/>
                </a:solidFill>
              </a:defRPr>
            </a:pPr>
            <a:r>
              <a:t>Legacy term numbers</a:t>
            </a:r>
          </a:p>
          <a:p>
            <a:pPr>
              <a:lnSpc>
                <a:spcPct val="117999"/>
              </a:lnSpc>
              <a:defRPr sz="1500">
                <a:solidFill>
                  <a:srgbClr val="D7D7D7"/>
                </a:solidFill>
              </a:defRPr>
            </a:pPr>
            <a:r>
              <a:t>Packaged web interface</a:t>
            </a:r>
          </a:p>
        </p:txBody>
      </p:sp>
      <p:sp>
        <p:nvSpPr>
          <p:cNvPr id="29" name="arrow-one"/>
          <p:cNvSpPr/>
          <p:nvPr/>
        </p:nvSpPr>
        <p:spPr>
          <a:xfrm>
            <a:off x="3359150" y="2057400"/>
            <a:ext cx="400050" cy="457200"/>
          </a:xfrm>
          <a:prstGeom prst="chevron">
            <a:avLst>
              <a:gd name="adj" fmla="val 50000"/>
            </a:avLst>
          </a:prstGeom>
          <a:solidFill>
            <a:srgbClr val="F4CE14"/>
          </a:solidFill>
          <a:ln w="3175">
            <a:solidFill>
              <a:srgbClr val="F4CE14"/>
            </a:solidFill>
          </a:ln>
        </p:spPr>
        <p:txBody>
          <a:bodyPr lIns="0" tIns="0" rIns="0" bIns="0"/>
          <a:lstStyle/>
          <a:p>
            <a:pPr/>
          </a:p>
        </p:txBody>
      </p:sp>
      <p:sp>
        <p:nvSpPr>
          <p:cNvPr id="30" name="step-two"/>
          <p:cNvSpPr txBox="1"/>
          <p:nvPr/>
        </p:nvSpPr>
        <p:spPr>
          <a:xfrm>
            <a:off x="3662044" y="1393825"/>
            <a:ext cx="432437"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solidFill>
                  <a:srgbClr val="F4CE14"/>
                </a:solidFill>
              </a:defRPr>
            </a:lvl1pPr>
          </a:lstStyle>
          <a:p>
            <a:pPr/>
            <a:r>
              <a:t>02</a:t>
            </a:r>
          </a:p>
        </p:txBody>
      </p:sp>
      <p:sp>
        <p:nvSpPr>
          <p:cNvPr id="31" name="choices-heading"/>
          <p:cNvSpPr txBox="1"/>
          <p:nvPr/>
        </p:nvSpPr>
        <p:spPr>
          <a:xfrm>
            <a:off x="4195444" y="1400175"/>
            <a:ext cx="2861312" cy="33028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900">
                <a:solidFill>
                  <a:srgbClr val="FFFFFF"/>
                </a:solidFill>
              </a:defRPr>
            </a:lvl1pPr>
          </a:lstStyle>
          <a:p>
            <a:pPr/>
            <a:r>
              <a:t>Explicit modelling choices</a:t>
            </a:r>
          </a:p>
        </p:txBody>
      </p:sp>
      <p:sp>
        <p:nvSpPr>
          <p:cNvPr id="32" name="choices-body"/>
          <p:cNvSpPr txBox="1"/>
          <p:nvPr/>
        </p:nvSpPr>
        <p:spPr>
          <a:xfrm>
            <a:off x="4195444" y="1866900"/>
            <a:ext cx="3212149" cy="184875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14000"/>
              </a:lnSpc>
              <a:defRPr sz="1400">
                <a:solidFill>
                  <a:srgbClr val="D7D7D7"/>
                </a:solidFill>
              </a:defRPr>
            </a:pPr>
            <a:r>
              <a:t>Descriptors → </a:t>
            </a:r>
            <a:r>
              <a:rPr>
                <a:latin typeface="Menlo Regular"/>
                <a:ea typeface="Menlo Regular"/>
                <a:cs typeface="Menlo Regular"/>
                <a:sym typeface="Menlo Regular"/>
              </a:rPr>
              <a:t>skos:Concept</a:t>
            </a:r>
          </a:p>
          <a:p>
            <a:pPr>
              <a:lnSpc>
                <a:spcPct val="114000"/>
              </a:lnSpc>
              <a:defRPr sz="1400">
                <a:solidFill>
                  <a:srgbClr val="D7D7D7"/>
                </a:solidFill>
              </a:defRPr>
            </a:pPr>
            <a:r>
              <a:t>TNR → stable IRI + notation</a:t>
            </a:r>
          </a:p>
          <a:p>
            <a:pPr>
              <a:lnSpc>
                <a:spcPct val="114000"/>
              </a:lnSpc>
              <a:defRPr sz="1400">
                <a:solidFill>
                  <a:srgbClr val="D7D7D7"/>
                </a:solidFill>
              </a:defRPr>
            </a:pPr>
            <a:r>
              <a:t>USE → skos:altLabel</a:t>
            </a:r>
          </a:p>
          <a:p>
            <a:pPr>
              <a:lnSpc>
                <a:spcPct val="114000"/>
              </a:lnSpc>
              <a:defRPr sz="1400">
                <a:solidFill>
                  <a:srgbClr val="D7D7D7"/>
                </a:solidFill>
              </a:defRPr>
            </a:pPr>
            <a:r>
              <a:t>BT / NT / RT → SKOS links</a:t>
            </a:r>
          </a:p>
          <a:p>
            <a:pPr>
              <a:lnSpc>
                <a:spcPct val="114000"/>
              </a:lnSpc>
              <a:defRPr sz="1400">
                <a:solidFill>
                  <a:srgbClr val="D7D7D7"/>
                </a:solidFill>
              </a:defRPr>
            </a:pPr>
            <a:r>
              <a:t>Subject Categories → 2nd scheme</a:t>
            </a:r>
          </a:p>
          <a:p>
            <a:pPr>
              <a:lnSpc>
                <a:spcPct val="114000"/>
              </a:lnSpc>
              <a:defRPr sz="1400">
                <a:solidFill>
                  <a:srgbClr val="D7D7D7"/>
                </a:solidFill>
              </a:defRPr>
            </a:pPr>
            <a:r>
              <a:t>Boilerplate </a:t>
            </a:r>
            <a:r>
              <a:rPr>
                <a:latin typeface="Menlo Regular"/>
                <a:ea typeface="Menlo Regular"/>
                <a:cs typeface="Menlo Regular"/>
                <a:sym typeface="Menlo Regular"/>
              </a:rPr>
              <a:t>skos:definition</a:t>
            </a:r>
            <a:r>
              <a:t> s</a:t>
            </a:r>
          </a:p>
          <a:p>
            <a:pPr>
              <a:lnSpc>
                <a:spcPct val="114000"/>
              </a:lnSpc>
              <a:defRPr sz="1400">
                <a:solidFill>
                  <a:srgbClr val="D7D7D7"/>
                </a:solidFill>
              </a:defRPr>
            </a:pPr>
            <a:r>
              <a:t>….captured in repeatable YAML</a:t>
            </a:r>
          </a:p>
        </p:txBody>
      </p:sp>
      <p:grpSp>
        <p:nvGrpSpPr>
          <p:cNvPr id="35" name="Group"/>
          <p:cNvGrpSpPr/>
          <p:nvPr/>
        </p:nvGrpSpPr>
        <p:grpSpPr>
          <a:xfrm>
            <a:off x="7897639" y="1818294"/>
            <a:ext cx="3889776" cy="2606761"/>
            <a:chOff x="0" y="0"/>
            <a:chExt cx="3889774" cy="2606760"/>
          </a:xfrm>
        </p:grpSpPr>
        <p:sp>
          <p:nvSpPr>
            <p:cNvPr id="33" name="screenshot-frame"/>
            <p:cNvSpPr/>
            <p:nvPr/>
          </p:nvSpPr>
          <p:spPr>
            <a:xfrm>
              <a:off x="0" y="0"/>
              <a:ext cx="3889775" cy="2606761"/>
            </a:xfrm>
            <a:prstGeom prst="roundRect">
              <a:avLst>
                <a:gd name="adj" fmla="val 4688"/>
              </a:avLst>
            </a:prstGeom>
            <a:solidFill>
              <a:srgbClr val="FFFFFF"/>
            </a:solidFill>
            <a:ln w="28575" cap="flat">
              <a:solidFill>
                <a:srgbClr val="F4CE14"/>
              </a:solidFill>
              <a:prstDash val="solid"/>
              <a:round/>
            </a:ln>
            <a:effectLst>
              <a:outerShdw sx="100000" sy="100000" kx="0" ky="0" algn="b" rotWithShape="0" blurRad="114300" dist="38100" dir="5400000">
                <a:srgbClr val="000000">
                  <a:alpha val="12000"/>
                </a:srgbClr>
              </a:outerShdw>
            </a:effectLst>
          </p:spPr>
          <p:txBody>
            <a:bodyPr wrap="square" lIns="0" tIns="0" rIns="0" bIns="0" numCol="1" anchor="t">
              <a:noAutofit/>
            </a:bodyPr>
            <a:lstStyle/>
            <a:p>
              <a:pPr/>
            </a:p>
          </p:txBody>
        </p:sp>
        <p:pic>
          <p:nvPicPr>
            <p:cNvPr id="34" name="image.jpeg" descr="image.jpeg"/>
            <p:cNvPicPr>
              <a:picLocks noChangeAspect="1"/>
            </p:cNvPicPr>
            <p:nvPr/>
          </p:nvPicPr>
          <p:blipFill>
            <a:blip r:embed="rId4">
              <a:extLst/>
            </a:blip>
            <a:srcRect l="7109" t="0" r="7113" b="0"/>
            <a:stretch>
              <a:fillRect/>
            </a:stretch>
          </p:blipFill>
          <p:spPr>
            <a:xfrm>
              <a:off x="81461" y="40730"/>
              <a:ext cx="3726657" cy="24438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72" y="0"/>
                  </a:moveTo>
                  <a:cubicBezTo>
                    <a:pt x="211" y="0"/>
                    <a:pt x="0" y="321"/>
                    <a:pt x="0" y="719"/>
                  </a:cubicBezTo>
                  <a:lnTo>
                    <a:pt x="0" y="20877"/>
                  </a:lnTo>
                  <a:cubicBezTo>
                    <a:pt x="0" y="21275"/>
                    <a:pt x="211" y="21600"/>
                    <a:pt x="472" y="21600"/>
                  </a:cubicBezTo>
                  <a:lnTo>
                    <a:pt x="21128" y="21600"/>
                  </a:lnTo>
                  <a:cubicBezTo>
                    <a:pt x="21389" y="21600"/>
                    <a:pt x="21600" y="21275"/>
                    <a:pt x="21600" y="20877"/>
                  </a:cubicBezTo>
                  <a:lnTo>
                    <a:pt x="21600" y="719"/>
                  </a:lnTo>
                  <a:cubicBezTo>
                    <a:pt x="21600" y="321"/>
                    <a:pt x="21389" y="0"/>
                    <a:pt x="21128" y="0"/>
                  </a:cubicBezTo>
                  <a:lnTo>
                    <a:pt x="472" y="0"/>
                  </a:lnTo>
                  <a:close/>
                </a:path>
              </a:pathLst>
            </a:custGeom>
            <a:ln w="12700" cap="flat">
              <a:noFill/>
              <a:miter lim="400000"/>
            </a:ln>
            <a:effectLst/>
          </p:spPr>
        </p:pic>
      </p:grpSp>
      <p:sp>
        <p:nvSpPr>
          <p:cNvPr id="36" name="destination-label"/>
          <p:cNvSpPr txBox="1"/>
          <p:nvPr/>
        </p:nvSpPr>
        <p:spPr>
          <a:xfrm>
            <a:off x="7405369" y="1390649"/>
            <a:ext cx="4355490" cy="33028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1900">
                <a:solidFill>
                  <a:srgbClr val="F4CE14"/>
                </a:solidFill>
              </a:defRPr>
            </a:pPr>
            <a:r>
              <a:t>03    </a:t>
            </a:r>
            <a:r>
              <a:rPr>
                <a:solidFill>
                  <a:srgbClr val="FFFFFF"/>
                </a:solidFill>
              </a:rPr>
              <a:t>Demo Prez = Human + machine access</a:t>
            </a:r>
          </a:p>
        </p:txBody>
      </p:sp>
      <p:sp>
        <p:nvSpPr>
          <p:cNvPr id="37" name="scale"/>
          <p:cNvSpPr txBox="1"/>
          <p:nvPr/>
        </p:nvSpPr>
        <p:spPr>
          <a:xfrm>
            <a:off x="633094" y="4029074"/>
            <a:ext cx="6026072" cy="31049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700">
                <a:solidFill>
                  <a:srgbClr val="FFFFFF"/>
                </a:solidFill>
              </a:defRPr>
            </a:lvl1pPr>
          </a:lstStyle>
          <a:p>
            <a:pPr/>
            <a:r>
              <a:t>5,280 concepts  ·  41 subject categories  ·  portable RDF delivery</a:t>
            </a:r>
          </a:p>
        </p:txBody>
      </p:sp>
      <p:sp>
        <p:nvSpPr>
          <p:cNvPr id="38" name="lessons-rule"/>
          <p:cNvSpPr/>
          <p:nvPr/>
        </p:nvSpPr>
        <p:spPr>
          <a:xfrm>
            <a:off x="590550" y="4581525"/>
            <a:ext cx="11049000" cy="19050"/>
          </a:xfrm>
          <a:prstGeom prst="rect">
            <a:avLst/>
          </a:prstGeom>
          <a:solidFill>
            <a:srgbClr val="3A3A3A"/>
          </a:solidFill>
          <a:ln w="3175">
            <a:solidFill>
              <a:srgbClr val="3A3A3A"/>
            </a:solidFill>
          </a:ln>
        </p:spPr>
        <p:txBody>
          <a:bodyPr lIns="0" tIns="0" rIns="0" bIns="0"/>
          <a:lstStyle/>
          <a:p>
            <a:pPr/>
          </a:p>
        </p:txBody>
      </p:sp>
      <p:sp>
        <p:nvSpPr>
          <p:cNvPr id="39" name="lessons-label"/>
          <p:cNvSpPr txBox="1"/>
          <p:nvPr/>
        </p:nvSpPr>
        <p:spPr>
          <a:xfrm>
            <a:off x="645794" y="4749800"/>
            <a:ext cx="1965962" cy="24830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F4CE14"/>
                </a:solidFill>
              </a:defRPr>
            </a:lvl1pPr>
          </a:lstStyle>
          <a:p>
            <a:pPr/>
            <a:r>
              <a:t>WHAT TOOK THE WORK</a:t>
            </a:r>
          </a:p>
        </p:txBody>
      </p:sp>
      <p:sp>
        <p:nvSpPr>
          <p:cNvPr id="40" name="lessons"/>
          <p:cNvSpPr txBox="1"/>
          <p:nvPr/>
        </p:nvSpPr>
        <p:spPr>
          <a:xfrm>
            <a:off x="658494" y="5083174"/>
            <a:ext cx="8366297" cy="27799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500">
                <a:solidFill>
                  <a:srgbClr val="FFFFFF"/>
                </a:solidFill>
              </a:defRPr>
            </a:lvl1pPr>
          </a:lstStyle>
          <a:p>
            <a:pPr/>
            <a:r>
              <a:t>Repeatable YAML → RDFLib → SHACL build  ·  resolving label-based links  ·  ‘matched on’ deduplication UX</a:t>
            </a:r>
          </a:p>
        </p:txBody>
      </p:sp>
      <p:sp>
        <p:nvSpPr>
          <p:cNvPr id="41" name="hosting-strip"/>
          <p:cNvSpPr/>
          <p:nvPr/>
        </p:nvSpPr>
        <p:spPr>
          <a:xfrm>
            <a:off x="0" y="5848350"/>
            <a:ext cx="12192000" cy="1009650"/>
          </a:xfrm>
          <a:prstGeom prst="rect">
            <a:avLst/>
          </a:prstGeom>
          <a:solidFill>
            <a:srgbClr val="F4CE14"/>
          </a:solidFill>
          <a:ln w="3175">
            <a:solidFill>
              <a:srgbClr val="F4CE14"/>
            </a:solidFill>
          </a:ln>
        </p:spPr>
        <p:txBody>
          <a:bodyPr lIns="0" tIns="0" rIns="0" bIns="0"/>
          <a:lstStyle/>
          <a:p>
            <a:pPr/>
          </a:p>
        </p:txBody>
      </p:sp>
      <p:sp>
        <p:nvSpPr>
          <p:cNvPr id="42" name="hosting-heading"/>
          <p:cNvSpPr txBox="1"/>
          <p:nvPr/>
        </p:nvSpPr>
        <p:spPr>
          <a:xfrm>
            <a:off x="645794" y="5975350"/>
            <a:ext cx="4766312"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111111"/>
                </a:solidFill>
              </a:defRPr>
            </a:pPr>
            <a:r>
              <a:t>Hosting can change; </a:t>
            </a:r>
            <a:r>
              <a:rPr i="1"/>
              <a:t>identifiers should not</a:t>
            </a:r>
            <a:r>
              <a:t>.</a:t>
            </a:r>
          </a:p>
        </p:txBody>
      </p:sp>
      <p:sp>
        <p:nvSpPr>
          <p:cNvPr id="43" name="hosting-options"/>
          <p:cNvSpPr txBox="1"/>
          <p:nvPr/>
        </p:nvSpPr>
        <p:spPr>
          <a:xfrm>
            <a:off x="645794" y="6334124"/>
            <a:ext cx="7540695" cy="27799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500">
                <a:solidFill>
                  <a:srgbClr val="111111"/>
                </a:solidFill>
              </a:defRPr>
            </a:lvl1pPr>
          </a:lstStyle>
          <a:p>
            <a:pPr/>
            <a:r>
              <a:t>RDF handover  →  managed, shared OR installed Prez + K-Maker  →  dedicated / client-hosted</a:t>
            </a:r>
          </a:p>
        </p:txBody>
      </p:sp>
      <p:sp>
        <p:nvSpPr>
          <p:cNvPr id="44" name="arrow-one"/>
          <p:cNvSpPr/>
          <p:nvPr/>
        </p:nvSpPr>
        <p:spPr>
          <a:xfrm>
            <a:off x="6889750" y="2082800"/>
            <a:ext cx="400050" cy="457200"/>
          </a:xfrm>
          <a:prstGeom prst="chevron">
            <a:avLst>
              <a:gd name="adj" fmla="val 50000"/>
            </a:avLst>
          </a:prstGeom>
          <a:solidFill>
            <a:srgbClr val="F4CE14"/>
          </a:solidFill>
          <a:ln w="3175">
            <a:solidFill>
              <a:srgbClr val="F4CE14"/>
            </a:solidFill>
          </a:ln>
        </p:spPr>
        <p:txBody>
          <a:bodyPr lIns="0" tIns="0" rIns="0" bIns="0"/>
          <a:lstStyle/>
          <a:p>
            <a:pPr/>
          </a:p>
        </p:txBody>
      </p:sp>
      <p:pic>
        <p:nvPicPr>
          <p:cNvPr id="45" name="pasted-movie.png" descr="pasted-movie.png"/>
          <p:cNvPicPr>
            <a:picLocks noChangeAspect="1"/>
          </p:cNvPicPr>
          <p:nvPr/>
        </p:nvPicPr>
        <p:blipFill>
          <a:blip r:embed="rId5">
            <a:extLst/>
          </a:blip>
          <a:stretch>
            <a:fillRect/>
          </a:stretch>
        </p:blipFill>
        <p:spPr>
          <a:xfrm>
            <a:off x="9887009" y="4647122"/>
            <a:ext cx="1965961" cy="1965961"/>
          </a:xfrm>
          <a:prstGeom prst="rect">
            <a:avLst/>
          </a:prstGeom>
          <a:ln w="12700">
            <a:miter lim="400000"/>
          </a:ln>
        </p:spPr>
      </p:pic>
      <p:pic>
        <p:nvPicPr>
          <p:cNvPr id="46" name="pasted-movie.png" descr="pasted-movie.png"/>
          <p:cNvPicPr>
            <a:picLocks noChangeAspect="1"/>
          </p:cNvPicPr>
          <p:nvPr/>
        </p:nvPicPr>
        <p:blipFill>
          <a:blip r:embed="rId6">
            <a:extLst/>
          </a:blip>
          <a:stretch>
            <a:fillRect/>
          </a:stretch>
        </p:blipFill>
        <p:spPr>
          <a:xfrm>
            <a:off x="9135962" y="5859462"/>
            <a:ext cx="671684" cy="774780"/>
          </a:xfrm>
          <a:prstGeom prst="rect">
            <a:avLst/>
          </a:prstGeom>
          <a:ln w="12700">
            <a:miter lim="400000"/>
          </a:ln>
        </p:spPr>
      </p:pic>
      <p:sp>
        <p:nvSpPr>
          <p:cNvPr id="47" name="lessons-label"/>
          <p:cNvSpPr txBox="1"/>
          <p:nvPr/>
        </p:nvSpPr>
        <p:spPr>
          <a:xfrm>
            <a:off x="6767194" y="5384799"/>
            <a:ext cx="2240231" cy="2483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F4CE14"/>
                </a:solidFill>
              </a:defRPr>
            </a:lvl1pPr>
          </a:lstStyle>
          <a:p>
            <a:pPr/>
            <a:r>
              <a:t>CODEX ASSISTED… START TO END</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ChatGPT">
      <a:majorFont>
        <a:latin typeface="Helvetica Neue"/>
        <a:ea typeface="Helvetica Neue"/>
        <a:cs typeface="Helvetica Neue"/>
      </a:majorFont>
      <a:minorFont>
        <a:latin typeface="Helvetica"/>
        <a:ea typeface="Helvetica"/>
        <a:cs typeface="Helvetica"/>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ChatGPT">
      <a:majorFont>
        <a:latin typeface="Helvetica Neue"/>
        <a:ea typeface="Helvetica Neue"/>
        <a:cs typeface="Helvetica Neue"/>
      </a:majorFont>
      <a:minorFont>
        <a:latin typeface="Helvetica"/>
        <a:ea typeface="Helvetica"/>
        <a:cs typeface="Helvetica"/>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